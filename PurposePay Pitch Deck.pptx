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idea: PurposePay lets a sender abroad send money home that can only be spent on what it was meant for. The panel on the right is the whole product in one picture: one transfer, three locked buckets.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frame the pain. Cost and delay are well known. The third is the one nobody has solved: once the money arrives, the sender cannot influence how it is spent, so a transfer meant for medical bills can be diverted.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gap in one slide. Central banks are writing papers on cross-border programmable money; PurposePay demonstrates a working proof of concept for the retail remittance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in three claims. Each maps to a technical component in the next slides: purpose buckets are the smart contract, instant settlement is the ledger, private compliance is the zero-knowledge vault. Speed and fee figures are design targets for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top to bottom. The two rows that matter most are compliance and sender control: speed and cost are improvements, but purpose enforcement is a new capability. The PurposePay column shows design targets, not measured production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as layers. The highlighted contract engine is the core: it receives one call from the gateway, checks compliance and FX, mints into the ledger and later checks the merchant category code at payment. The sender's bank and the receiving banks each run their own nodes; only the gateway and contract are PurposePay-specific.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steps with the worked example: an expat in Dubai sends USD 1,000 home for medical bills. Step 4 is highlighted because it is where the money becomes three locked buckets. The FX rate of 83.50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 SWIFT MT messages carry plain text only. ISO 20022 uses structured XML, so the purpose split fits inside the Supplementary Data block of a normal credit transfer. That is the adoption argument: legacy core banking software keeps working and only the gateway understands the extra envelope.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demo moment. Scan a hospital QR with Healthcare tokens and it clears; scan a liquor store and the contract rejects it on-chain. MCC lists shown are a starting configuration and would be set by policy and updatable without redeploying the contract. Merchants need no new hardware because the MCC is already in the standard UPI QR payload.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Compliance runs before any token exists. The LRS limit of USD 250,000 applies to resident individuals sending money abroad; for inward NRI remittances the same proof circuit enforces the corridor and AML thresholds the regulator sets, which is why the cap is a policy parameter. The ledger is permissioned, so only authorised banks and central banks run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judges ask whether this scales, answer with this table: every PoC shortcut has a named production replacement. Be explicit that the 10,000 TPS and sub-second finality numbers are design targets for a Kafka and BFT consensus architecture, not results measured on the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the question round. Two more answers to have ready: FX moves during settlement are handled by locking the oracle rate for 30 seconds, and each corridor needs regulator approval, so caps and prohibited MCC lists stay configurable per corridor.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phases are a proposed plan. The key message: the hackathon build is Phase 1, and Phase 2 needs no wait for central bank retail corridors because it uses synthetic tokens backed 1:1 by commercial bank money inside a regulator sandbox. UAE to India is the example corridor used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contrast, then move straight to the live negative test: scan a hospital QR with Healthcare tokens (approved), then a liquor store QR (blocked). Fee and speed figures for PurposePay are design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40"/>
            <a:ext cx="10566400" cy="448056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F6F4EE"/>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40"/>
            <a:ext cx="10566400" cy="4480560"/>
          </a:xfrm>
          <a:prstGeom prst="rect">
            <a:avLst/>
          </a:prstGeom>
          <a:noFill/>
          <a:ln/>
        </p:spPr>
        <p:txBody>
          <a:bodyPr wrap="square" lIns="0" tIns="0" rIns="0" bIns="0" rtlCol="0" anchor="t"/>
          <a:lstStyle>
            <a:lvl1pPr algn="l" indent="0" marL="0">
              <a:lnSpc>
                <a:spcPct val="140000"/>
              </a:lnSpc>
              <a:buNone/>
              <a:defRPr lang="en-US" sz="1600" dirty="0">
                <a:solidFill>
                  <a:srgbClr val="F6F4EE"/>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F6F4EE"/>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40"/>
            <a:ext cx="10566400" cy="4480560"/>
          </a:xfrm>
          <a:prstGeom prst="rect">
            <a:avLst/>
          </a:prstGeom>
          <a:noFill/>
          <a:ln/>
        </p:spPr>
        <p:txBody>
          <a:bodyPr wrap="square" lIns="0" tIns="0" rIns="0" bIns="0" rtlCol="0" anchor="t"/>
          <a:lstStyle>
            <a:lvl1pPr algn="l" indent="0" marL="0">
              <a:lnSpc>
                <a:spcPct val="140000"/>
              </a:lnSpc>
              <a:buNone/>
              <a:defRPr lang="en-US" sz="1600" dirty="0">
                <a:solidFill>
                  <a:srgbClr val="F6F4EE"/>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40"/>
            <a:ext cx="10566400" cy="448056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12800" y="1943100"/>
            <a:ext cx="6540500"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A04A"/>
                </a:solidFill>
                <a:latin typeface="DM Sans" pitchFamily="34" charset="0"/>
                <a:ea typeface="DM Sans" pitchFamily="34" charset="-122"/>
                <a:cs typeface="DM Sans" pitchFamily="34" charset="-120"/>
              </a:rPr>
              <a:t>DIGITAL RUPEE CROSS-BORDER HACKATHON</a:t>
            </a:r>
            <a:endParaRPr lang="en-US" sz="1400" dirty="0"/>
          </a:p>
        </p:txBody>
      </p:sp>
      <p:sp>
        <p:nvSpPr>
          <p:cNvPr id="3" name="Text 1"/>
          <p:cNvSpPr/>
          <p:nvPr>
            <p:ph type="title"/>
          </p:nvPr>
        </p:nvSpPr>
        <p:spPr>
          <a:xfrm>
            <a:off x="812800" y="2395220"/>
            <a:ext cx="6540500" cy="1092200"/>
          </a:xfrm>
          <a:prstGeom prst="rect">
            <a:avLst/>
          </a:prstGeom>
          <a:noFill/>
          <a:ln/>
        </p:spPr>
        <p:txBody>
          <a:bodyPr wrap="square" lIns="0" tIns="0" rIns="0" bIns="0" rtlCol="0" anchor="t">
            <a:normAutofit/>
          </a:bodyPr>
          <a:lstStyle/>
          <a:p>
            <a:pPr algn="l" indent="0" marL="0">
              <a:lnSpc>
                <a:spcPts val="8400"/>
              </a:lnSpc>
              <a:buNone/>
            </a:pPr>
            <a:r>
              <a:rPr lang="en-US" sz="8000" b="1" i="0" dirty="0">
                <a:solidFill>
                  <a:srgbClr val="F6F4EE"/>
                </a:solidFill>
                <a:latin typeface="DM Sans" pitchFamily="34" charset="0"/>
                <a:ea typeface="DM Sans" pitchFamily="34" charset="-122"/>
                <a:cs typeface="DM Sans" pitchFamily="34" charset="-120"/>
              </a:rPr>
              <a:t>PurposePay</a:t>
            </a:r>
            <a:endParaRPr lang="en-US" sz="8000" dirty="0"/>
          </a:p>
        </p:txBody>
      </p:sp>
      <p:sp>
        <p:nvSpPr>
          <p:cNvPr id="4" name="Text 2"/>
          <p:cNvSpPr/>
          <p:nvPr/>
        </p:nvSpPr>
        <p:spPr>
          <a:xfrm>
            <a:off x="812800" y="3665220"/>
            <a:ext cx="6540500"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F6F4EE"/>
                </a:solidFill>
                <a:latin typeface="DM Sans" pitchFamily="34" charset="0"/>
                <a:ea typeface="DM Sans" pitchFamily="34" charset="-122"/>
                <a:cs typeface="DM Sans" pitchFamily="34" charset="-120"/>
              </a:rPr>
              <a:t>Programmable cross-border remittance with purpose-bound e₹</a:t>
            </a:r>
            <a:endParaRPr lang="en-US" sz="2400" dirty="0"/>
          </a:p>
        </p:txBody>
      </p:sp>
      <p:sp>
        <p:nvSpPr>
          <p:cNvPr id="5" name="Text 3"/>
          <p:cNvSpPr/>
          <p:nvPr/>
        </p:nvSpPr>
        <p:spPr>
          <a:xfrm>
            <a:off x="812800" y="4630420"/>
            <a:ext cx="65405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8C4DE"/>
                </a:solidFill>
                <a:latin typeface="DM Sans" pitchFamily="34" charset="0"/>
                <a:ea typeface="DM Sans" pitchFamily="34" charset="-122"/>
                <a:cs typeface="DM Sans" pitchFamily="34" charset="-120"/>
              </a:rPr>
              <a:t>From blind cash to smart, purpose-bound capital.</a:t>
            </a:r>
            <a:endParaRPr lang="en-US" sz="1600" dirty="0"/>
          </a:p>
        </p:txBody>
      </p:sp>
      <p:sp>
        <p:nvSpPr>
          <p:cNvPr id="6" name="Text 4"/>
          <p:cNvSpPr/>
          <p:nvPr/>
        </p:nvSpPr>
        <p:spPr>
          <a:xfrm>
            <a:off x="8077200" y="1524000"/>
            <a:ext cx="340106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E"/>
                </a:solidFill>
                <a:latin typeface="DM Sans" pitchFamily="34" charset="0"/>
                <a:ea typeface="DM Sans" pitchFamily="34" charset="-122"/>
                <a:cs typeface="DM Sans" pitchFamily="34" charset="-120"/>
              </a:rPr>
              <a:t>One USD 1,000 transfer, split by purpose</a:t>
            </a:r>
            <a:endParaRPr lang="en-US" sz="1300" dirty="0"/>
          </a:p>
        </p:txBody>
      </p:sp>
      <p:sp>
        <p:nvSpPr>
          <p:cNvPr id="7" name="Shape 5"/>
          <p:cNvSpPr/>
          <p:nvPr/>
        </p:nvSpPr>
        <p:spPr>
          <a:xfrm>
            <a:off x="8080375" y="1885315"/>
            <a:ext cx="3295650" cy="643890"/>
          </a:xfrm>
          <a:prstGeom prst="roundRect">
            <a:avLst>
              <a:gd name="adj" fmla="val 19231"/>
            </a:avLst>
          </a:prstGeom>
          <a:solidFill>
            <a:srgbClr val="1A2B57"/>
          </a:solidFill>
          <a:ln w="6350">
            <a:solidFill>
              <a:srgbClr val="34509A"/>
            </a:solidFill>
            <a:prstDash val="solid"/>
          </a:ln>
        </p:spPr>
      </p:sp>
      <p:sp>
        <p:nvSpPr>
          <p:cNvPr id="8" name="Text 6"/>
          <p:cNvSpPr/>
          <p:nvPr/>
        </p:nvSpPr>
        <p:spPr>
          <a:xfrm>
            <a:off x="8285480" y="2065020"/>
            <a:ext cx="1213199"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EE"/>
                </a:solidFill>
                <a:latin typeface="DM Sans" pitchFamily="34" charset="0"/>
                <a:ea typeface="DM Sans" pitchFamily="34" charset="-122"/>
                <a:cs typeface="DM Sans" pitchFamily="34" charset="-120"/>
              </a:rPr>
              <a:t>Education</a:t>
            </a:r>
            <a:endParaRPr lang="en-US" sz="1600" dirty="0"/>
          </a:p>
        </p:txBody>
      </p:sp>
      <p:sp>
        <p:nvSpPr>
          <p:cNvPr id="9" name="Text 7"/>
          <p:cNvSpPr/>
          <p:nvPr/>
        </p:nvSpPr>
        <p:spPr>
          <a:xfrm>
            <a:off x="9723215" y="2082800"/>
            <a:ext cx="1447705"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F2A04A"/>
                </a:solidFill>
                <a:latin typeface="DM Sans" pitchFamily="34" charset="0"/>
                <a:ea typeface="DM Sans" pitchFamily="34" charset="-122"/>
                <a:cs typeface="DM Sans" pitchFamily="34" charset="-120"/>
              </a:rPr>
              <a:t>40% · ₹33,400</a:t>
            </a:r>
            <a:endParaRPr lang="en-US" sz="1400" dirty="0"/>
          </a:p>
        </p:txBody>
      </p:sp>
      <p:sp>
        <p:nvSpPr>
          <p:cNvPr id="10" name="Shape 8"/>
          <p:cNvSpPr/>
          <p:nvPr/>
        </p:nvSpPr>
        <p:spPr>
          <a:xfrm>
            <a:off x="8080375" y="2662555"/>
            <a:ext cx="3295650" cy="643890"/>
          </a:xfrm>
          <a:prstGeom prst="roundRect">
            <a:avLst>
              <a:gd name="adj" fmla="val 19231"/>
            </a:avLst>
          </a:prstGeom>
          <a:solidFill>
            <a:srgbClr val="1A2B57"/>
          </a:solidFill>
          <a:ln w="6350">
            <a:solidFill>
              <a:srgbClr val="34509A"/>
            </a:solidFill>
            <a:prstDash val="solid"/>
          </a:ln>
        </p:spPr>
      </p:sp>
      <p:sp>
        <p:nvSpPr>
          <p:cNvPr id="11" name="Text 9"/>
          <p:cNvSpPr/>
          <p:nvPr/>
        </p:nvSpPr>
        <p:spPr>
          <a:xfrm>
            <a:off x="8285480" y="2842260"/>
            <a:ext cx="132073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EE"/>
                </a:solidFill>
                <a:latin typeface="DM Sans" pitchFamily="34" charset="0"/>
                <a:ea typeface="DM Sans" pitchFamily="34" charset="-122"/>
                <a:cs typeface="DM Sans" pitchFamily="34" charset="-120"/>
              </a:rPr>
              <a:t>Healthcare</a:t>
            </a:r>
            <a:endParaRPr lang="en-US" sz="1600" dirty="0"/>
          </a:p>
        </p:txBody>
      </p:sp>
      <p:sp>
        <p:nvSpPr>
          <p:cNvPr id="12" name="Text 10"/>
          <p:cNvSpPr/>
          <p:nvPr/>
        </p:nvSpPr>
        <p:spPr>
          <a:xfrm>
            <a:off x="9723215" y="2860040"/>
            <a:ext cx="1447705"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F2A04A"/>
                </a:solidFill>
                <a:latin typeface="DM Sans" pitchFamily="34" charset="0"/>
                <a:ea typeface="DM Sans" pitchFamily="34" charset="-122"/>
                <a:cs typeface="DM Sans" pitchFamily="34" charset="-120"/>
              </a:rPr>
              <a:t>40% · ₹33,400</a:t>
            </a:r>
            <a:endParaRPr lang="en-US" sz="1400" dirty="0"/>
          </a:p>
        </p:txBody>
      </p:sp>
      <p:sp>
        <p:nvSpPr>
          <p:cNvPr id="13" name="Shape 11"/>
          <p:cNvSpPr/>
          <p:nvPr/>
        </p:nvSpPr>
        <p:spPr>
          <a:xfrm>
            <a:off x="8080375" y="3439795"/>
            <a:ext cx="3295650" cy="643890"/>
          </a:xfrm>
          <a:prstGeom prst="roundRect">
            <a:avLst>
              <a:gd name="adj" fmla="val 19231"/>
            </a:avLst>
          </a:prstGeom>
          <a:solidFill>
            <a:srgbClr val="1A2B57"/>
          </a:solidFill>
          <a:ln w="6350">
            <a:solidFill>
              <a:srgbClr val="34509A"/>
            </a:solidFill>
            <a:prstDash val="solid"/>
          </a:ln>
        </p:spPr>
      </p:sp>
      <p:sp>
        <p:nvSpPr>
          <p:cNvPr id="14" name="Text 12"/>
          <p:cNvSpPr/>
          <p:nvPr/>
        </p:nvSpPr>
        <p:spPr>
          <a:xfrm>
            <a:off x="8285480" y="3619500"/>
            <a:ext cx="941261"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EE"/>
                </a:solidFill>
                <a:latin typeface="DM Sans" pitchFamily="34" charset="0"/>
                <a:ea typeface="DM Sans" pitchFamily="34" charset="-122"/>
                <a:cs typeface="DM Sans" pitchFamily="34" charset="-120"/>
              </a:rPr>
              <a:t>General</a:t>
            </a:r>
            <a:endParaRPr lang="en-US" sz="1600" dirty="0"/>
          </a:p>
        </p:txBody>
      </p:sp>
      <p:sp>
        <p:nvSpPr>
          <p:cNvPr id="15" name="Text 13"/>
          <p:cNvSpPr/>
          <p:nvPr/>
        </p:nvSpPr>
        <p:spPr>
          <a:xfrm>
            <a:off x="9802178" y="3637280"/>
            <a:ext cx="1368743"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F2A04A"/>
                </a:solidFill>
                <a:latin typeface="DM Sans" pitchFamily="34" charset="0"/>
                <a:ea typeface="DM Sans" pitchFamily="34" charset="-122"/>
                <a:cs typeface="DM Sans" pitchFamily="34" charset="-120"/>
              </a:rPr>
              <a:t>20% · ₹16,700</a:t>
            </a:r>
            <a:endParaRPr lang="en-US" sz="1400" dirty="0"/>
          </a:p>
        </p:txBody>
      </p:sp>
      <p:sp>
        <p:nvSpPr>
          <p:cNvPr id="16" name="Text 14"/>
          <p:cNvSpPr/>
          <p:nvPr/>
        </p:nvSpPr>
        <p:spPr>
          <a:xfrm>
            <a:off x="8077200" y="4213860"/>
            <a:ext cx="34010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DE"/>
                </a:solidFill>
                <a:latin typeface="DM Sans" pitchFamily="34" charset="0"/>
                <a:ea typeface="DM Sans" pitchFamily="34" charset="-122"/>
                <a:cs typeface="DM Sans" pitchFamily="34" charset="-120"/>
              </a:rPr>
              <a:t>Illustrative rate: 1 USD = 83.50 INR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Sending money home is slow, costly and blind</a:t>
            </a:r>
            <a:endParaRPr lang="en-US" sz="3200" dirty="0"/>
          </a:p>
        </p:txBody>
      </p:sp>
      <p:sp>
        <p:nvSpPr>
          <p:cNvPr id="3" name="Shape 1"/>
          <p:cNvSpPr/>
          <p:nvPr/>
        </p:nvSpPr>
        <p:spPr>
          <a:xfrm>
            <a:off x="815975" y="3416935"/>
            <a:ext cx="3380264" cy="2421890"/>
          </a:xfrm>
          <a:prstGeom prst="roundRect">
            <a:avLst>
              <a:gd name="adj" fmla="val 6162"/>
            </a:avLst>
          </a:prstGeom>
          <a:solidFill>
            <a:srgbClr val="FFFDF8"/>
          </a:solidFill>
          <a:ln w="6350">
            <a:solidFill>
              <a:srgbClr val="E3DFD3"/>
            </a:solidFill>
            <a:prstDash val="solid"/>
          </a:ln>
        </p:spPr>
      </p:sp>
      <p:sp>
        <p:nvSpPr>
          <p:cNvPr id="4" name="Text 2"/>
          <p:cNvSpPr/>
          <p:nvPr/>
        </p:nvSpPr>
        <p:spPr>
          <a:xfrm>
            <a:off x="1122680" y="3723640"/>
            <a:ext cx="2849859" cy="939800"/>
          </a:xfrm>
          <a:prstGeom prst="rect">
            <a:avLst/>
          </a:prstGeom>
          <a:noFill/>
          <a:ln/>
        </p:spPr>
        <p:txBody>
          <a:bodyPr wrap="square" lIns="0" tIns="0" rIns="0" bIns="0" rtlCol="0" anchor="t">
            <a:normAutofit/>
          </a:bodyPr>
          <a:lstStyle/>
          <a:p>
            <a:pPr algn="l" indent="0" marL="0">
              <a:lnSpc>
                <a:spcPts val="7200"/>
              </a:lnSpc>
              <a:buNone/>
            </a:pPr>
            <a:r>
              <a:rPr lang="en-US" sz="7200" b="1" dirty="0">
                <a:solidFill>
                  <a:srgbClr val="B3392F"/>
                </a:solidFill>
                <a:latin typeface="DM Sans" pitchFamily="34" charset="0"/>
                <a:ea typeface="DM Sans" pitchFamily="34" charset="-122"/>
                <a:cs typeface="DM Sans" pitchFamily="34" charset="-120"/>
              </a:rPr>
              <a:t>3–7%</a:t>
            </a:r>
            <a:endParaRPr lang="en-US" sz="7200" dirty="0"/>
          </a:p>
        </p:txBody>
      </p:sp>
      <p:sp>
        <p:nvSpPr>
          <p:cNvPr id="5" name="Text 3"/>
          <p:cNvSpPr/>
          <p:nvPr/>
        </p:nvSpPr>
        <p:spPr>
          <a:xfrm>
            <a:off x="1122680" y="4739640"/>
            <a:ext cx="2849859"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A5568"/>
                </a:solidFill>
                <a:latin typeface="DM Sans" pitchFamily="34" charset="0"/>
                <a:ea typeface="DM Sans" pitchFamily="34" charset="-122"/>
                <a:cs typeface="DM Sans" pitchFamily="34" charset="-120"/>
              </a:rPr>
              <a:t>total cost per transfer, from wire fees and FX spreads</a:t>
            </a:r>
            <a:endParaRPr lang="en-US" sz="1600" dirty="0"/>
          </a:p>
        </p:txBody>
      </p:sp>
      <p:sp>
        <p:nvSpPr>
          <p:cNvPr id="6" name="Shape 4"/>
          <p:cNvSpPr/>
          <p:nvPr/>
        </p:nvSpPr>
        <p:spPr>
          <a:xfrm>
            <a:off x="4405789" y="3416935"/>
            <a:ext cx="3380343" cy="2421890"/>
          </a:xfrm>
          <a:prstGeom prst="roundRect">
            <a:avLst>
              <a:gd name="adj" fmla="val 6162"/>
            </a:avLst>
          </a:prstGeom>
          <a:solidFill>
            <a:srgbClr val="FFFDF8"/>
          </a:solidFill>
          <a:ln w="6350">
            <a:solidFill>
              <a:srgbClr val="E3DFD3"/>
            </a:solidFill>
            <a:prstDash val="solid"/>
          </a:ln>
        </p:spPr>
      </p:sp>
      <p:sp>
        <p:nvSpPr>
          <p:cNvPr id="7" name="Text 5"/>
          <p:cNvSpPr/>
          <p:nvPr/>
        </p:nvSpPr>
        <p:spPr>
          <a:xfrm>
            <a:off x="4712494" y="3723640"/>
            <a:ext cx="2849941" cy="939800"/>
          </a:xfrm>
          <a:prstGeom prst="rect">
            <a:avLst/>
          </a:prstGeom>
          <a:noFill/>
          <a:ln/>
        </p:spPr>
        <p:txBody>
          <a:bodyPr wrap="square" lIns="0" tIns="0" rIns="0" bIns="0" rtlCol="0" anchor="t">
            <a:normAutofit/>
          </a:bodyPr>
          <a:lstStyle/>
          <a:p>
            <a:pPr algn="l" indent="0" marL="0">
              <a:lnSpc>
                <a:spcPts val="7200"/>
              </a:lnSpc>
              <a:buNone/>
            </a:pPr>
            <a:r>
              <a:rPr lang="en-US" sz="7200" b="1" dirty="0">
                <a:solidFill>
                  <a:srgbClr val="B3392F"/>
                </a:solidFill>
                <a:latin typeface="DM Sans" pitchFamily="34" charset="0"/>
                <a:ea typeface="DM Sans" pitchFamily="34" charset="-122"/>
                <a:cs typeface="DM Sans" pitchFamily="34" charset="-120"/>
              </a:rPr>
              <a:t>1–3</a:t>
            </a:r>
            <a:endParaRPr lang="en-US" sz="7200" dirty="0"/>
          </a:p>
        </p:txBody>
      </p:sp>
      <p:sp>
        <p:nvSpPr>
          <p:cNvPr id="8" name="Text 6"/>
          <p:cNvSpPr/>
          <p:nvPr/>
        </p:nvSpPr>
        <p:spPr>
          <a:xfrm>
            <a:off x="4712494" y="4739640"/>
            <a:ext cx="2849941" cy="81788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A5568"/>
                </a:solidFill>
                <a:latin typeface="DM Sans" pitchFamily="34" charset="0"/>
                <a:ea typeface="DM Sans" pitchFamily="34" charset="-122"/>
                <a:cs typeface="DM Sans" pitchFamily="34" charset="-120"/>
              </a:rPr>
              <a:t>business days to settle, across 2–4 correspondent banks</a:t>
            </a:r>
            <a:endParaRPr lang="en-US" sz="1600" dirty="0"/>
          </a:p>
        </p:txBody>
      </p:sp>
      <p:sp>
        <p:nvSpPr>
          <p:cNvPr id="9" name="Shape 7"/>
          <p:cNvSpPr/>
          <p:nvPr/>
        </p:nvSpPr>
        <p:spPr>
          <a:xfrm>
            <a:off x="7995682" y="3416935"/>
            <a:ext cx="3380343" cy="2421890"/>
          </a:xfrm>
          <a:prstGeom prst="roundRect">
            <a:avLst>
              <a:gd name="adj" fmla="val 6162"/>
            </a:avLst>
          </a:prstGeom>
          <a:solidFill>
            <a:srgbClr val="FFFDF8"/>
          </a:solidFill>
          <a:ln w="6350">
            <a:solidFill>
              <a:srgbClr val="E3DFD3"/>
            </a:solidFill>
            <a:prstDash val="solid"/>
          </a:ln>
        </p:spPr>
      </p:sp>
      <p:sp>
        <p:nvSpPr>
          <p:cNvPr id="10" name="Text 8"/>
          <p:cNvSpPr/>
          <p:nvPr/>
        </p:nvSpPr>
        <p:spPr>
          <a:xfrm>
            <a:off x="8302387" y="3723640"/>
            <a:ext cx="2849941" cy="939800"/>
          </a:xfrm>
          <a:prstGeom prst="rect">
            <a:avLst/>
          </a:prstGeom>
          <a:noFill/>
          <a:ln/>
        </p:spPr>
        <p:txBody>
          <a:bodyPr wrap="square" lIns="0" tIns="0" rIns="0" bIns="0" rtlCol="0" anchor="t">
            <a:normAutofit/>
          </a:bodyPr>
          <a:lstStyle/>
          <a:p>
            <a:pPr algn="l" indent="0" marL="0">
              <a:lnSpc>
                <a:spcPts val="7200"/>
              </a:lnSpc>
              <a:buNone/>
            </a:pPr>
            <a:r>
              <a:rPr lang="en-US" sz="7200" b="1" dirty="0">
                <a:solidFill>
                  <a:srgbClr val="B3392F"/>
                </a:solidFill>
                <a:latin typeface="DM Sans" pitchFamily="34" charset="0"/>
                <a:ea typeface="DM Sans" pitchFamily="34" charset="-122"/>
                <a:cs typeface="DM Sans" pitchFamily="34" charset="-120"/>
              </a:rPr>
              <a:t>0</a:t>
            </a:r>
            <a:endParaRPr lang="en-US" sz="7200" dirty="0"/>
          </a:p>
        </p:txBody>
      </p:sp>
      <p:sp>
        <p:nvSpPr>
          <p:cNvPr id="11" name="Text 9"/>
          <p:cNvSpPr/>
          <p:nvPr/>
        </p:nvSpPr>
        <p:spPr>
          <a:xfrm>
            <a:off x="8302387" y="4739640"/>
            <a:ext cx="2849941" cy="81788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A5568"/>
                </a:solidFill>
                <a:latin typeface="DM Sans" pitchFamily="34" charset="0"/>
                <a:ea typeface="DM Sans" pitchFamily="34" charset="-122"/>
                <a:cs typeface="DM Sans" pitchFamily="34" charset="-120"/>
              </a:rPr>
              <a:t>control for the sender once the money lands as plain cash</a:t>
            </a:r>
            <a:endParaRPr lang="en-US" sz="1600" dirty="0"/>
          </a:p>
        </p:txBody>
      </p:sp>
      <p:sp>
        <p:nvSpPr>
          <p:cNvPr id="12" name="Text 10"/>
          <p:cNvSpPr/>
          <p:nvPr/>
        </p:nvSpPr>
        <p:spPr>
          <a:xfrm>
            <a:off x="812800" y="6238241"/>
            <a:ext cx="48851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Typical ranges for SWIFT-based remittances · PurposePay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The consumer layer is missing</a:t>
            </a:r>
            <a:endParaRPr lang="en-US" sz="3200" dirty="0"/>
          </a:p>
        </p:txBody>
      </p:sp>
      <p:sp>
        <p:nvSpPr>
          <p:cNvPr id="3" name="Shape 1"/>
          <p:cNvSpPr/>
          <p:nvPr/>
        </p:nvSpPr>
        <p:spPr>
          <a:xfrm>
            <a:off x="815975" y="2004695"/>
            <a:ext cx="3380264" cy="2360930"/>
          </a:xfrm>
          <a:prstGeom prst="roundRect">
            <a:avLst>
              <a:gd name="adj" fmla="val 6321"/>
            </a:avLst>
          </a:prstGeom>
          <a:solidFill>
            <a:srgbClr val="FFFDF8"/>
          </a:solidFill>
          <a:ln w="6350">
            <a:solidFill>
              <a:srgbClr val="E3DFD3"/>
            </a:solidFill>
            <a:prstDash val="solid"/>
          </a:ln>
        </p:spPr>
      </p:sp>
      <p:pic>
        <p:nvPicPr>
          <p:cNvPr id="4" name="Image 0" descr="Globe">    </p:cNvPr>
          <p:cNvPicPr>
            <a:picLocks noChangeAspect="1"/>
          </p:cNvPicPr>
          <p:nvPr/>
        </p:nvPicPr>
        <p:blipFill>
          <a:blip r:embed="rId1"/>
          <a:srcRect l="0" r="0" t="0" b="0"/>
          <a:stretch/>
        </p:blipFill>
        <p:spPr>
          <a:xfrm>
            <a:off x="1071880" y="2260600"/>
            <a:ext cx="355600" cy="355600"/>
          </a:xfrm>
          <a:prstGeom prst="rect">
            <a:avLst/>
          </a:prstGeom>
        </p:spPr>
      </p:pic>
      <p:sp>
        <p:nvSpPr>
          <p:cNvPr id="5" name="Text 2"/>
          <p:cNvSpPr/>
          <p:nvPr/>
        </p:nvSpPr>
        <p:spPr>
          <a:xfrm>
            <a:off x="1071880" y="2743200"/>
            <a:ext cx="295450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e₹ stops at the border</a:t>
            </a:r>
            <a:endParaRPr lang="en-US" sz="1600" dirty="0"/>
          </a:p>
        </p:txBody>
      </p:sp>
      <p:sp>
        <p:nvSpPr>
          <p:cNvPr id="6" name="Text 3"/>
          <p:cNvSpPr/>
          <p:nvPr/>
        </p:nvSpPr>
        <p:spPr>
          <a:xfrm>
            <a:off x="1071880" y="3114041"/>
            <a:ext cx="295450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The RBI retail e₹ is a domestic pilot. An NRI abroad cannot send digital rupees to family in India.</a:t>
            </a:r>
            <a:endParaRPr lang="en-US" sz="1400" dirty="0"/>
          </a:p>
        </p:txBody>
      </p:sp>
      <p:sp>
        <p:nvSpPr>
          <p:cNvPr id="7" name="Shape 4"/>
          <p:cNvSpPr/>
          <p:nvPr/>
        </p:nvSpPr>
        <p:spPr>
          <a:xfrm>
            <a:off x="4405789" y="2004695"/>
            <a:ext cx="3380343" cy="2360930"/>
          </a:xfrm>
          <a:prstGeom prst="roundRect">
            <a:avLst>
              <a:gd name="adj" fmla="val 6321"/>
            </a:avLst>
          </a:prstGeom>
          <a:solidFill>
            <a:srgbClr val="FFFDF8"/>
          </a:solidFill>
          <a:ln w="6350">
            <a:solidFill>
              <a:srgbClr val="E3DFD3"/>
            </a:solidFill>
            <a:prstDash val="solid"/>
          </a:ln>
        </p:spPr>
      </p:sp>
      <p:pic>
        <p:nvPicPr>
          <p:cNvPr id="8" name="Image 1" descr="Link">    </p:cNvPr>
          <p:cNvPicPr>
            <a:picLocks noChangeAspect="1"/>
          </p:cNvPicPr>
          <p:nvPr/>
        </p:nvPicPr>
        <p:blipFill>
          <a:blip r:embed="rId2"/>
          <a:srcRect l="0" r="0" t="0" b="0"/>
          <a:stretch/>
        </p:blipFill>
        <p:spPr>
          <a:xfrm>
            <a:off x="4661694" y="2260600"/>
            <a:ext cx="355600" cy="355600"/>
          </a:xfrm>
          <a:prstGeom prst="rect">
            <a:avLst/>
          </a:prstGeom>
        </p:spPr>
      </p:pic>
      <p:sp>
        <p:nvSpPr>
          <p:cNvPr id="9" name="Text 5"/>
          <p:cNvSpPr/>
          <p:nvPr/>
        </p:nvSpPr>
        <p:spPr>
          <a:xfrm>
            <a:off x="4661694" y="2743200"/>
            <a:ext cx="2954589"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Cross-border CBDC is institutional</a:t>
            </a:r>
            <a:endParaRPr lang="en-US" sz="1600" dirty="0"/>
          </a:p>
        </p:txBody>
      </p:sp>
      <p:sp>
        <p:nvSpPr>
          <p:cNvPr id="10" name="Text 6"/>
          <p:cNvSpPr/>
          <p:nvPr/>
        </p:nvSpPr>
        <p:spPr>
          <a:xfrm>
            <a:off x="4661694" y="3357880"/>
            <a:ext cx="295458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Central banks test bank-to-bank projects such as mBridge. None is open to retail senders.</a:t>
            </a:r>
            <a:endParaRPr lang="en-US" sz="1400" dirty="0"/>
          </a:p>
        </p:txBody>
      </p:sp>
      <p:sp>
        <p:nvSpPr>
          <p:cNvPr id="11" name="Shape 7"/>
          <p:cNvSpPr/>
          <p:nvPr/>
        </p:nvSpPr>
        <p:spPr>
          <a:xfrm>
            <a:off x="7995682" y="2004695"/>
            <a:ext cx="3380343" cy="2360930"/>
          </a:xfrm>
          <a:prstGeom prst="roundRect">
            <a:avLst>
              <a:gd name="adj" fmla="val 6321"/>
            </a:avLst>
          </a:prstGeom>
          <a:solidFill>
            <a:srgbClr val="FFFDF8"/>
          </a:solidFill>
          <a:ln w="6350">
            <a:solidFill>
              <a:srgbClr val="E3DFD3"/>
            </a:solidFill>
            <a:prstDash val="solid"/>
          </a:ln>
        </p:spPr>
      </p:sp>
      <p:pic>
        <p:nvPicPr>
          <p:cNvPr id="12" name="Image 2" descr="Lock">    </p:cNvPr>
          <p:cNvPicPr>
            <a:picLocks noChangeAspect="1"/>
          </p:cNvPicPr>
          <p:nvPr/>
        </p:nvPicPr>
        <p:blipFill>
          <a:blip r:embed="rId3"/>
          <a:srcRect l="0" r="0" t="0" b="0"/>
          <a:stretch/>
        </p:blipFill>
        <p:spPr>
          <a:xfrm>
            <a:off x="8251587" y="2260600"/>
            <a:ext cx="355600" cy="355600"/>
          </a:xfrm>
          <a:prstGeom prst="rect">
            <a:avLst/>
          </a:prstGeom>
        </p:spPr>
      </p:pic>
      <p:sp>
        <p:nvSpPr>
          <p:cNvPr id="13" name="Text 8"/>
          <p:cNvSpPr/>
          <p:nvPr/>
        </p:nvSpPr>
        <p:spPr>
          <a:xfrm>
            <a:off x="8251587" y="2743200"/>
            <a:ext cx="312126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Programmability is domestic</a:t>
            </a:r>
            <a:endParaRPr lang="en-US" sz="1600" dirty="0"/>
          </a:p>
        </p:txBody>
      </p:sp>
      <p:sp>
        <p:nvSpPr>
          <p:cNvPr id="14" name="Text 9"/>
          <p:cNvSpPr/>
          <p:nvPr/>
        </p:nvSpPr>
        <p:spPr>
          <a:xfrm>
            <a:off x="8251587" y="3114041"/>
            <a:ext cx="2954589"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Earmarked e₹ pilots exist inside India. No product lets a foreign sender lock funds to merchant categories.</a:t>
            </a:r>
            <a:endParaRPr lang="en-US" sz="1400" dirty="0"/>
          </a:p>
        </p:txBody>
      </p:sp>
      <p:sp>
        <p:nvSpPr>
          <p:cNvPr id="15" name="Text 10"/>
          <p:cNvSpPr/>
          <p:nvPr/>
        </p:nvSpPr>
        <p:spPr>
          <a:xfrm>
            <a:off x="812800" y="5110480"/>
            <a:ext cx="10566400" cy="731520"/>
          </a:xfrm>
          <a:prstGeom prst="roundRect">
            <a:avLst>
              <a:gd name="adj" fmla="val 20833"/>
            </a:avLst>
          </a:prstGeom>
          <a:solidFill>
            <a:srgbClr val="0F1B3A"/>
          </a:solidFill>
          <a:ln/>
        </p:spPr>
        <p:txBody>
          <a:bodyPr wrap="square" lIns="260164" tIns="183964" rIns="0" bIns="158564" rtlCol="0" anchor="t">
            <a:normAutofit/>
          </a:bodyPr>
          <a:lstStyle/>
          <a:p>
            <a:pPr algn="l" indent="0" marL="0">
              <a:lnSpc>
                <a:spcPts val="2160"/>
              </a:lnSpc>
              <a:buNone/>
            </a:pPr>
            <a:r>
              <a:rPr lang="en-US" sz="1600" dirty="0">
                <a:solidFill>
                  <a:srgbClr val="F6F4EE"/>
                </a:solidFill>
                <a:latin typeface="DM Sans" pitchFamily="34" charset="0"/>
                <a:ea typeface="DM Sans" pitchFamily="34" charset="-122"/>
                <a:cs typeface="DM Sans" pitchFamily="34" charset="-120"/>
              </a:rPr>
              <a:t>PurposePay joins cross-border CBDC settlement with Merchant Category Code smart contracts.</a:t>
            </a:r>
            <a:endParaRPr lang="en-US" sz="1600" dirty="0"/>
          </a:p>
        </p:txBody>
      </p:sp>
      <p:sp>
        <p:nvSpPr>
          <p:cNvPr id="16" name="Text 11"/>
          <p:cNvSpPr/>
          <p:nvPr/>
        </p:nvSpPr>
        <p:spPr>
          <a:xfrm>
            <a:off x="812800" y="6238241"/>
            <a:ext cx="44028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PurposePay · Digital Rupee Cross-Border Hackathon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3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E"/>
                </a:solidFill>
                <a:latin typeface="DM Sans" pitchFamily="34" charset="0"/>
                <a:ea typeface="DM Sans" pitchFamily="34" charset="-122"/>
                <a:cs typeface="DM Sans" pitchFamily="34" charset="-120"/>
              </a:rPr>
              <a:t>Money that knows where it should go</a:t>
            </a:r>
            <a:endParaRPr lang="en-US" sz="3200" dirty="0"/>
          </a:p>
        </p:txBody>
      </p:sp>
      <p:sp>
        <p:nvSpPr>
          <p:cNvPr id="3" name="Text 1"/>
          <p:cNvSpPr/>
          <p:nvPr/>
        </p:nvSpPr>
        <p:spPr>
          <a:xfrm>
            <a:off x="812800" y="1386841"/>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8C4DE"/>
                </a:solidFill>
                <a:latin typeface="DM Sans" pitchFamily="34" charset="0"/>
                <a:ea typeface="DM Sans" pitchFamily="34" charset="-122"/>
                <a:cs typeface="DM Sans" pitchFamily="34" charset="-120"/>
              </a:rPr>
              <a:t>PurposePay turns a cross-border remittance into purpose-bound e₹.</a:t>
            </a:r>
            <a:endParaRPr lang="en-US" sz="1600" dirty="0"/>
          </a:p>
        </p:txBody>
      </p:sp>
      <p:sp>
        <p:nvSpPr>
          <p:cNvPr id="4" name="Shape 2"/>
          <p:cNvSpPr/>
          <p:nvPr/>
        </p:nvSpPr>
        <p:spPr>
          <a:xfrm>
            <a:off x="815975" y="2431416"/>
            <a:ext cx="3380264" cy="2391410"/>
          </a:xfrm>
          <a:prstGeom prst="roundRect">
            <a:avLst>
              <a:gd name="adj" fmla="val 6240"/>
            </a:avLst>
          </a:prstGeom>
          <a:solidFill>
            <a:srgbClr val="1A2B57"/>
          </a:solidFill>
          <a:ln w="6350">
            <a:solidFill>
              <a:srgbClr val="34509A"/>
            </a:solidFill>
            <a:prstDash val="solid"/>
          </a:ln>
        </p:spPr>
      </p:sp>
      <p:pic>
        <p:nvPicPr>
          <p:cNvPr id="5" name="Image 0" descr="Lock">    </p:cNvPr>
          <p:cNvPicPr>
            <a:picLocks noChangeAspect="1"/>
          </p:cNvPicPr>
          <p:nvPr/>
        </p:nvPicPr>
        <p:blipFill>
          <a:blip r:embed="rId1"/>
          <a:srcRect l="0" r="0" t="0" b="0"/>
          <a:stretch/>
        </p:blipFill>
        <p:spPr>
          <a:xfrm>
            <a:off x="1071880" y="2687320"/>
            <a:ext cx="355600" cy="355600"/>
          </a:xfrm>
          <a:prstGeom prst="rect">
            <a:avLst/>
          </a:prstGeom>
        </p:spPr>
      </p:pic>
      <p:sp>
        <p:nvSpPr>
          <p:cNvPr id="6" name="Text 3"/>
          <p:cNvSpPr/>
          <p:nvPr/>
        </p:nvSpPr>
        <p:spPr>
          <a:xfrm>
            <a:off x="1071880" y="3169920"/>
            <a:ext cx="295450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E"/>
                </a:solidFill>
                <a:latin typeface="DM Sans" pitchFamily="34" charset="0"/>
                <a:ea typeface="DM Sans" pitchFamily="34" charset="-122"/>
                <a:cs typeface="DM Sans" pitchFamily="34" charset="-120"/>
              </a:rPr>
              <a:t>Purpose buckets</a:t>
            </a:r>
            <a:endParaRPr lang="en-US" sz="1800" dirty="0"/>
          </a:p>
        </p:txBody>
      </p:sp>
      <p:sp>
        <p:nvSpPr>
          <p:cNvPr id="7" name="Text 4"/>
          <p:cNvSpPr/>
          <p:nvPr/>
        </p:nvSpPr>
        <p:spPr>
          <a:xfrm>
            <a:off x="1071880" y="3571241"/>
            <a:ext cx="2954507"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DF0"/>
                </a:solidFill>
                <a:latin typeface="DM Sans" pitchFamily="34" charset="0"/>
                <a:ea typeface="DM Sans" pitchFamily="34" charset="-122"/>
                <a:cs typeface="DM Sans" pitchFamily="34" charset="-120"/>
              </a:rPr>
              <a:t>The sender splits each transfer into Education, Healthcare and General. Every token carries its purpose.</a:t>
            </a:r>
            <a:endParaRPr lang="en-US" sz="1400" dirty="0"/>
          </a:p>
        </p:txBody>
      </p:sp>
      <p:sp>
        <p:nvSpPr>
          <p:cNvPr id="8" name="Shape 5"/>
          <p:cNvSpPr/>
          <p:nvPr/>
        </p:nvSpPr>
        <p:spPr>
          <a:xfrm>
            <a:off x="4405789" y="2431416"/>
            <a:ext cx="3380343" cy="2391410"/>
          </a:xfrm>
          <a:prstGeom prst="roundRect">
            <a:avLst>
              <a:gd name="adj" fmla="val 6240"/>
            </a:avLst>
          </a:prstGeom>
          <a:solidFill>
            <a:srgbClr val="1A2B57"/>
          </a:solidFill>
          <a:ln w="6350">
            <a:solidFill>
              <a:srgbClr val="34509A"/>
            </a:solidFill>
            <a:prstDash val="solid"/>
          </a:ln>
        </p:spPr>
      </p:sp>
      <p:pic>
        <p:nvPicPr>
          <p:cNvPr id="9" name="Image 1" descr="Lightning">    </p:cNvPr>
          <p:cNvPicPr>
            <a:picLocks noChangeAspect="1"/>
          </p:cNvPicPr>
          <p:nvPr/>
        </p:nvPicPr>
        <p:blipFill>
          <a:blip r:embed="rId2"/>
          <a:srcRect l="0" r="0" t="0" b="0"/>
          <a:stretch/>
        </p:blipFill>
        <p:spPr>
          <a:xfrm>
            <a:off x="4661694" y="2687320"/>
            <a:ext cx="355600" cy="355600"/>
          </a:xfrm>
          <a:prstGeom prst="rect">
            <a:avLst/>
          </a:prstGeom>
        </p:spPr>
      </p:pic>
      <p:sp>
        <p:nvSpPr>
          <p:cNvPr id="10" name="Text 6"/>
          <p:cNvSpPr/>
          <p:nvPr/>
        </p:nvSpPr>
        <p:spPr>
          <a:xfrm>
            <a:off x="4661694" y="316992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E"/>
                </a:solidFill>
                <a:latin typeface="DM Sans" pitchFamily="34" charset="0"/>
                <a:ea typeface="DM Sans" pitchFamily="34" charset="-122"/>
                <a:cs typeface="DM Sans" pitchFamily="34" charset="-120"/>
              </a:rPr>
              <a:t>Instant settlement</a:t>
            </a:r>
            <a:endParaRPr lang="en-US" sz="1800" dirty="0"/>
          </a:p>
        </p:txBody>
      </p:sp>
      <p:sp>
        <p:nvSpPr>
          <p:cNvPr id="11" name="Text 7"/>
          <p:cNvSpPr/>
          <p:nvPr/>
        </p:nvSpPr>
        <p:spPr>
          <a:xfrm>
            <a:off x="4661694" y="3571241"/>
            <a:ext cx="295458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DF0"/>
                </a:solidFill>
                <a:latin typeface="DM Sans" pitchFamily="34" charset="0"/>
                <a:ea typeface="DM Sans" pitchFamily="34" charset="-122"/>
                <a:cs typeface="DM Sans" pitchFamily="34" charset="-120"/>
              </a:rPr>
              <a:t>Atomic ledger settlement targets under 3 seconds, with near-zero intermediary fees.</a:t>
            </a:r>
            <a:endParaRPr lang="en-US" sz="1400" dirty="0"/>
          </a:p>
        </p:txBody>
      </p:sp>
      <p:sp>
        <p:nvSpPr>
          <p:cNvPr id="12" name="Shape 8"/>
          <p:cNvSpPr/>
          <p:nvPr/>
        </p:nvSpPr>
        <p:spPr>
          <a:xfrm>
            <a:off x="7995682" y="2431416"/>
            <a:ext cx="3380343" cy="2391410"/>
          </a:xfrm>
          <a:prstGeom prst="roundRect">
            <a:avLst>
              <a:gd name="adj" fmla="val 6240"/>
            </a:avLst>
          </a:prstGeom>
          <a:solidFill>
            <a:srgbClr val="1A2B57"/>
          </a:solidFill>
          <a:ln w="6350">
            <a:solidFill>
              <a:srgbClr val="34509A"/>
            </a:solidFill>
            <a:prstDash val="solid"/>
          </a:ln>
        </p:spPr>
      </p:sp>
      <p:pic>
        <p:nvPicPr>
          <p:cNvPr id="13" name="Image 2" descr="Verified">    </p:cNvPr>
          <p:cNvPicPr>
            <a:picLocks noChangeAspect="1"/>
          </p:cNvPicPr>
          <p:nvPr/>
        </p:nvPicPr>
        <p:blipFill>
          <a:blip r:embed="rId3"/>
          <a:srcRect l="0" r="0" t="0" b="0"/>
          <a:stretch/>
        </p:blipFill>
        <p:spPr>
          <a:xfrm>
            <a:off x="8251587" y="2687320"/>
            <a:ext cx="355600" cy="355600"/>
          </a:xfrm>
          <a:prstGeom prst="rect">
            <a:avLst/>
          </a:prstGeom>
        </p:spPr>
      </p:pic>
      <p:sp>
        <p:nvSpPr>
          <p:cNvPr id="14" name="Text 9"/>
          <p:cNvSpPr/>
          <p:nvPr/>
        </p:nvSpPr>
        <p:spPr>
          <a:xfrm>
            <a:off x="8251587" y="316992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E"/>
                </a:solidFill>
                <a:latin typeface="DM Sans" pitchFamily="34" charset="0"/>
                <a:ea typeface="DM Sans" pitchFamily="34" charset="-122"/>
                <a:cs typeface="DM Sans" pitchFamily="34" charset="-120"/>
              </a:rPr>
              <a:t>Private compliance</a:t>
            </a:r>
            <a:endParaRPr lang="en-US" sz="1800" dirty="0"/>
          </a:p>
        </p:txBody>
      </p:sp>
      <p:sp>
        <p:nvSpPr>
          <p:cNvPr id="15" name="Text 10"/>
          <p:cNvSpPr/>
          <p:nvPr/>
        </p:nvSpPr>
        <p:spPr>
          <a:xfrm>
            <a:off x="8251587" y="3571241"/>
            <a:ext cx="295458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DF0"/>
                </a:solidFill>
                <a:latin typeface="DM Sans" pitchFamily="34" charset="0"/>
                <a:ea typeface="DM Sans" pitchFamily="34" charset="-122"/>
                <a:cs typeface="DM Sans" pitchFamily="34" charset="-120"/>
              </a:rPr>
              <a:t>Zero-knowledge proofs check annual caps without exposing balances or history.</a:t>
            </a:r>
            <a:endParaRPr lang="en-US" sz="1400" dirty="0"/>
          </a:p>
        </p:txBody>
      </p:sp>
      <p:sp>
        <p:nvSpPr>
          <p:cNvPr id="16" name="Text 11"/>
          <p:cNvSpPr/>
          <p:nvPr/>
        </p:nvSpPr>
        <p:spPr>
          <a:xfrm>
            <a:off x="812800" y="5593082"/>
            <a:ext cx="113792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DE"/>
                </a:solidFill>
                <a:latin typeface="DM Sans" pitchFamily="34" charset="0"/>
                <a:ea typeface="DM Sans" pitchFamily="34" charset="-122"/>
                <a:cs typeface="DM Sans" pitchFamily="34" charset="-120"/>
              </a:rPr>
              <a:t>Built on ISO 20022, UPI/e₹ QR codes and a permissioned two-tier ledger, so banks and merchants keep their existing systems.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Today versus PurposePay</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2970531"/>
          <a:ext cx="10556240" cy="2871470"/>
        </p:xfrm>
        <a:graphic>
          <a:graphicData uri="http://schemas.openxmlformats.org/drawingml/2006/table">
            <a:tbl>
              <a:tblPr/>
              <a:tblGrid>
                <a:gridCol w="2533498"/>
                <a:gridCol w="3589122"/>
                <a:gridCol w="4433621"/>
              </a:tblGrid>
              <a:tr h="410210">
                <a:tc>
                  <a:txBody>
                    <a:bodyPr/>
                    <a:lstStyle/>
                    <a:p>
                      <a:pPr indent="0" marL="0">
                        <a:lnSpc>
                          <a:spcPts val="2100"/>
                        </a:lnSpc>
                        <a:buNone/>
                      </a:pPr>
                      <a:r>
                        <a:rPr lang="en-US" sz="1500" b="1" dirty="0">
                          <a:solidFill>
                            <a:srgbClr val="4A5568"/>
                          </a:solidFill>
                          <a:latin typeface="DM Sans" pitchFamily="34" charset="0"/>
                          <a:ea typeface="DM Sans" pitchFamily="34" charset="-122"/>
                          <a:cs typeface="DM Sans" pitchFamily="34" charset="-120"/>
                        </a:rPr>
                        <a:t>Dimension</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2100"/>
                        </a:lnSpc>
                        <a:buNone/>
                      </a:pPr>
                      <a:r>
                        <a:rPr lang="en-US" sz="1500" b="1" dirty="0">
                          <a:solidFill>
                            <a:srgbClr val="B3392F"/>
                          </a:solidFill>
                          <a:latin typeface="DM Sans" pitchFamily="34" charset="0"/>
                          <a:ea typeface="DM Sans" pitchFamily="34" charset="-122"/>
                          <a:cs typeface="DM Sans" pitchFamily="34" charset="-120"/>
                        </a:rPr>
                        <a:t>Today: SWIFT wire</a:t>
                      </a:r>
                      <a:endParaRPr lang="en-US" sz="1500" dirty="0">
                        <a:latin typeface="DM Sans" charset="0"/>
                        <a:ea typeface="DM Sans" charset="0"/>
                        <a:cs typeface="DM Sans" charset="0"/>
                      </a:endParaRPr>
                    </a:p>
                  </a:txBody>
                  <a:tcPr marL="66675" marR="66675" marT="66675" marB="6667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2100"/>
                        </a:lnSpc>
                        <a:buNone/>
                      </a:pPr>
                      <a:r>
                        <a:rPr lang="en-US" sz="1500" b="1" dirty="0">
                          <a:solidFill>
                            <a:srgbClr val="17785A"/>
                          </a:solidFill>
                          <a:latin typeface="DM Sans" pitchFamily="34" charset="0"/>
                          <a:ea typeface="DM Sans" pitchFamily="34" charset="-122"/>
                          <a:cs typeface="DM Sans" pitchFamily="34" charset="-120"/>
                        </a:rPr>
                        <a:t>PurposePay</a:t>
                      </a:r>
                      <a:endParaRPr lang="en-US" sz="1500" dirty="0">
                        <a:latin typeface="DM Sans" charset="0"/>
                        <a:ea typeface="DM Sans" charset="0"/>
                        <a:cs typeface="DM Sans" charset="0"/>
                      </a:endParaRPr>
                    </a:p>
                  </a:txBody>
                  <a:tcPr marL="66675" marR="66675" marT="66675" marB="6667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r>
              <a:tr h="41021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Settlement</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4A5568"/>
                          </a:solidFill>
                          <a:latin typeface="DM Sans" pitchFamily="34" charset="0"/>
                          <a:ea typeface="DM Sans" pitchFamily="34" charset="-122"/>
                          <a:cs typeface="DM Sans" pitchFamily="34" charset="-120"/>
                        </a:rPr>
                        <a:t>1–3 business days</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Under 3 seconds (target)</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Total cost</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4A5568"/>
                          </a:solidFill>
                          <a:latin typeface="DM Sans" pitchFamily="34" charset="0"/>
                          <a:ea typeface="DM Sans" pitchFamily="34" charset="-122"/>
                          <a:cs typeface="DM Sans" pitchFamily="34" charset="-120"/>
                        </a:rPr>
                        <a:t>3–7% of the amount</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Near-zero intermediary fees</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Messaging</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4A5568"/>
                          </a:solidFill>
                          <a:latin typeface="DM Sans" pitchFamily="34" charset="0"/>
                          <a:ea typeface="DM Sans" pitchFamily="34" charset="-122"/>
                          <a:cs typeface="DM Sans" pitchFamily="34" charset="-120"/>
                        </a:rPr>
                        <a:t>Legacy MT messages</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ISO 20022 pacs.008 and pacs.002</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Compliance</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4A5568"/>
                          </a:solidFill>
                          <a:latin typeface="DM Sans" pitchFamily="34" charset="0"/>
                          <a:ea typeface="DM Sans" pitchFamily="34" charset="-122"/>
                          <a:cs typeface="DM Sans" pitchFamily="34" charset="-120"/>
                        </a:rPr>
                        <a:t>Manual back-office review</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Automated zero-knowledge proofs</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Sender control</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4A5568"/>
                          </a:solidFill>
                          <a:latin typeface="DM Sans" pitchFamily="34" charset="0"/>
                          <a:ea typeface="DM Sans" pitchFamily="34" charset="-122"/>
                          <a:cs typeface="DM Sans" pitchFamily="34" charset="-120"/>
                        </a:rPr>
                        <a:t>None, funds arrive as cash</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Purpose buckets locked by MCC</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Point of sale</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4A5568"/>
                          </a:solidFill>
                          <a:latin typeface="DM Sans" pitchFamily="34" charset="0"/>
                          <a:ea typeface="DM Sans" pitchFamily="34" charset="-122"/>
                          <a:cs typeface="DM Sans" pitchFamily="34" charset="-120"/>
                        </a:rPr>
                        <a:t>Any vendor accepted</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4-digit MCC checked on every payment</a:t>
                      </a:r>
                      <a:endParaRPr lang="en-US" sz="1500" dirty="0">
                        <a:latin typeface="DM Sans" charset="0"/>
                        <a:ea typeface="DM Sans" charset="0"/>
                        <a:cs typeface="DM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4" name="Text 1"/>
          <p:cNvSpPr/>
          <p:nvPr/>
        </p:nvSpPr>
        <p:spPr>
          <a:xfrm>
            <a:off x="812800" y="6238239"/>
            <a:ext cx="44028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PurposePay · Digital Rupee Cross-Border Hackathon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2119"/>
          </a:xfrm>
          <a:prstGeom prst="rect">
            <a:avLst/>
          </a:prstGeom>
          <a:noFill/>
          <a:ln/>
        </p:spPr>
        <p:txBody>
          <a:bodyPr wrap="square" lIns="0" tIns="0" rIns="0" bIns="0" rtlCol="0" anchor="t">
            <a:normAutofit/>
          </a:bodyPr>
          <a:lstStyle/>
          <a:p>
            <a:pPr algn="l" indent="0" marL="0">
              <a:lnSpc>
                <a:spcPts val="3322"/>
              </a:lnSpc>
              <a:buNone/>
            </a:pPr>
            <a:r>
              <a:rPr lang="en-US" sz="3020" b="1" i="0" dirty="0">
                <a:solidFill>
                  <a:srgbClr val="14213D"/>
                </a:solidFill>
                <a:latin typeface="DM Sans" pitchFamily="34" charset="0"/>
                <a:ea typeface="DM Sans" pitchFamily="34" charset="-122"/>
                <a:cs typeface="DM Sans" pitchFamily="34" charset="-120"/>
              </a:rPr>
              <a:t>One gateway, one contract, two tiers</a:t>
            </a:r>
            <a:endParaRPr lang="en-US" sz="3020" dirty="0"/>
          </a:p>
        </p:txBody>
      </p:sp>
      <p:sp>
        <p:nvSpPr>
          <p:cNvPr id="3" name="Shape 1"/>
          <p:cNvSpPr/>
          <p:nvPr/>
        </p:nvSpPr>
        <p:spPr>
          <a:xfrm>
            <a:off x="815975" y="1410494"/>
            <a:ext cx="10560050" cy="821690"/>
          </a:xfrm>
          <a:prstGeom prst="roundRect">
            <a:avLst>
              <a:gd name="adj" fmla="val 15070"/>
            </a:avLst>
          </a:prstGeom>
          <a:solidFill>
            <a:srgbClr val="FFFDF8"/>
          </a:solidFill>
          <a:ln w="6350">
            <a:solidFill>
              <a:srgbClr val="E3DFD3"/>
            </a:solidFill>
            <a:prstDash val="solid"/>
          </a:ln>
        </p:spPr>
      </p:sp>
      <p:sp>
        <p:nvSpPr>
          <p:cNvPr id="4" name="Text 2"/>
          <p:cNvSpPr/>
          <p:nvPr/>
        </p:nvSpPr>
        <p:spPr>
          <a:xfrm>
            <a:off x="919480" y="1611154"/>
            <a:ext cx="1574800" cy="229870"/>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14213D"/>
                </a:solidFill>
                <a:latin typeface="DM Sans" pitchFamily="34" charset="0"/>
                <a:ea typeface="DM Sans" pitchFamily="34" charset="-122"/>
                <a:cs typeface="DM Sans" pitchFamily="34" charset="-120"/>
              </a:rPr>
              <a:t>Sender side</a:t>
            </a:r>
            <a:endParaRPr lang="en-US" sz="1400" dirty="0"/>
          </a:p>
        </p:txBody>
      </p:sp>
      <p:sp>
        <p:nvSpPr>
          <p:cNvPr id="5" name="Text 3"/>
          <p:cNvSpPr/>
          <p:nvPr/>
        </p:nvSpPr>
        <p:spPr>
          <a:xfrm>
            <a:off x="919480" y="1841026"/>
            <a:ext cx="1574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DM Sans" pitchFamily="34" charset="0"/>
                <a:ea typeface="DM Sans" pitchFamily="34" charset="-122"/>
                <a:cs typeface="DM Sans" pitchFamily="34" charset="-120"/>
              </a:rPr>
              <a:t>Abroad, e.g. UAE</a:t>
            </a:r>
            <a:endParaRPr lang="en-US" sz="1200" dirty="0"/>
          </a:p>
        </p:txBody>
      </p:sp>
      <p:sp>
        <p:nvSpPr>
          <p:cNvPr id="6" name="Shape 4"/>
          <p:cNvSpPr/>
          <p:nvPr/>
        </p:nvSpPr>
        <p:spPr>
          <a:xfrm>
            <a:off x="2599055" y="1517176"/>
            <a:ext cx="4255770" cy="608330"/>
          </a:xfrm>
          <a:prstGeom prst="roundRect">
            <a:avLst>
              <a:gd name="adj" fmla="val 14092"/>
            </a:avLst>
          </a:prstGeom>
          <a:solidFill>
            <a:srgbClr val="FFFFFF"/>
          </a:solidFill>
          <a:ln w="6350">
            <a:solidFill>
              <a:srgbClr val="CFCBBE"/>
            </a:solidFill>
            <a:prstDash val="solid"/>
          </a:ln>
        </p:spPr>
      </p:sp>
      <p:sp>
        <p:nvSpPr>
          <p:cNvPr id="7" name="Text 5"/>
          <p:cNvSpPr/>
          <p:nvPr/>
        </p:nvSpPr>
        <p:spPr>
          <a:xfrm>
            <a:off x="2740660" y="1620679"/>
            <a:ext cx="4091737" cy="238363"/>
          </a:xfrm>
          <a:prstGeom prst="rect">
            <a:avLst/>
          </a:prstGeom>
          <a:noFill/>
          <a:ln/>
        </p:spPr>
        <p:txBody>
          <a:bodyPr wrap="square" lIns="0" tIns="0" rIns="0" bIns="0" rtlCol="0" anchor="t">
            <a:normAutofit/>
          </a:bodyPr>
          <a:lstStyle/>
          <a:p>
            <a:pPr algn="l" indent="0" marL="0">
              <a:lnSpc>
                <a:spcPts val="1721"/>
              </a:lnSpc>
              <a:buNone/>
            </a:pPr>
            <a:r>
              <a:rPr lang="en-US" sz="1229" b="1" dirty="0">
                <a:solidFill>
                  <a:srgbClr val="14213D"/>
                </a:solidFill>
                <a:latin typeface="DM Sans" pitchFamily="34" charset="0"/>
                <a:ea typeface="DM Sans" pitchFamily="34" charset="-122"/>
                <a:cs typeface="DM Sans" pitchFamily="34" charset="-120"/>
              </a:rPr>
              <a:t>Sender app</a:t>
            </a:r>
            <a:endParaRPr lang="en-US" sz="1229" dirty="0"/>
          </a:p>
        </p:txBody>
      </p:sp>
      <p:sp>
        <p:nvSpPr>
          <p:cNvPr id="8" name="Text 6"/>
          <p:cNvSpPr/>
          <p:nvPr/>
        </p:nvSpPr>
        <p:spPr>
          <a:xfrm>
            <a:off x="2740660" y="1859043"/>
            <a:ext cx="4091737" cy="188357"/>
          </a:xfrm>
          <a:prstGeom prst="rect">
            <a:avLst/>
          </a:prstGeom>
          <a:noFill/>
          <a:ln/>
        </p:spPr>
        <p:txBody>
          <a:bodyPr wrap="square" lIns="0" tIns="0" rIns="0" bIns="0" rtlCol="0" anchor="t">
            <a:normAutofit/>
          </a:bodyPr>
          <a:lstStyle/>
          <a:p>
            <a:pPr algn="l" indent="0" marL="0">
              <a:lnSpc>
                <a:spcPts val="1322"/>
              </a:lnSpc>
              <a:buNone/>
            </a:pPr>
            <a:r>
              <a:rPr lang="en-US" sz="1058" dirty="0">
                <a:solidFill>
                  <a:srgbClr val="4A5568"/>
                </a:solidFill>
                <a:latin typeface="DM Sans" pitchFamily="34" charset="0"/>
                <a:ea typeface="DM Sans" pitchFamily="34" charset="-122"/>
                <a:cs typeface="DM Sans" pitchFamily="34" charset="-120"/>
              </a:rPr>
              <a:t>Amount and purpose split</a:t>
            </a:r>
            <a:endParaRPr lang="en-US" sz="1058" dirty="0"/>
          </a:p>
        </p:txBody>
      </p:sp>
      <p:sp>
        <p:nvSpPr>
          <p:cNvPr id="9" name="Shape 7"/>
          <p:cNvSpPr/>
          <p:nvPr/>
        </p:nvSpPr>
        <p:spPr>
          <a:xfrm>
            <a:off x="7013575" y="1517176"/>
            <a:ext cx="4255770" cy="608330"/>
          </a:xfrm>
          <a:prstGeom prst="roundRect">
            <a:avLst>
              <a:gd name="adj" fmla="val 14092"/>
            </a:avLst>
          </a:prstGeom>
          <a:solidFill>
            <a:srgbClr val="FFFFFF"/>
          </a:solidFill>
          <a:ln w="6350">
            <a:solidFill>
              <a:srgbClr val="CFCBBE"/>
            </a:solidFill>
            <a:prstDash val="solid"/>
          </a:ln>
        </p:spPr>
      </p:sp>
      <p:sp>
        <p:nvSpPr>
          <p:cNvPr id="10" name="Text 8"/>
          <p:cNvSpPr/>
          <p:nvPr/>
        </p:nvSpPr>
        <p:spPr>
          <a:xfrm>
            <a:off x="7155180" y="1620679"/>
            <a:ext cx="4091737" cy="238363"/>
          </a:xfrm>
          <a:prstGeom prst="rect">
            <a:avLst/>
          </a:prstGeom>
          <a:noFill/>
          <a:ln/>
        </p:spPr>
        <p:txBody>
          <a:bodyPr wrap="square" lIns="0" tIns="0" rIns="0" bIns="0" rtlCol="0" anchor="t">
            <a:normAutofit/>
          </a:bodyPr>
          <a:lstStyle/>
          <a:p>
            <a:pPr algn="l" indent="0" marL="0">
              <a:lnSpc>
                <a:spcPts val="1721"/>
              </a:lnSpc>
              <a:buNone/>
            </a:pPr>
            <a:r>
              <a:rPr lang="en-US" sz="1229" b="1" dirty="0">
                <a:solidFill>
                  <a:srgbClr val="14213D"/>
                </a:solidFill>
                <a:latin typeface="DM Sans" pitchFamily="34" charset="0"/>
                <a:ea typeface="DM Sans" pitchFamily="34" charset="-122"/>
                <a:cs typeface="DM Sans" pitchFamily="34" charset="-120"/>
              </a:rPr>
              <a:t>Sender bank node</a:t>
            </a:r>
            <a:endParaRPr lang="en-US" sz="1229" dirty="0"/>
          </a:p>
        </p:txBody>
      </p:sp>
      <p:sp>
        <p:nvSpPr>
          <p:cNvPr id="11" name="Text 9"/>
          <p:cNvSpPr/>
          <p:nvPr/>
        </p:nvSpPr>
        <p:spPr>
          <a:xfrm>
            <a:off x="7155180" y="1859043"/>
            <a:ext cx="4091737" cy="188357"/>
          </a:xfrm>
          <a:prstGeom prst="rect">
            <a:avLst/>
          </a:prstGeom>
          <a:noFill/>
          <a:ln/>
        </p:spPr>
        <p:txBody>
          <a:bodyPr wrap="square" lIns="0" tIns="0" rIns="0" bIns="0" rtlCol="0" anchor="t">
            <a:normAutofit/>
          </a:bodyPr>
          <a:lstStyle/>
          <a:p>
            <a:pPr algn="l" indent="0" marL="0">
              <a:lnSpc>
                <a:spcPts val="1322"/>
              </a:lnSpc>
              <a:buNone/>
            </a:pPr>
            <a:r>
              <a:rPr lang="en-US" sz="1058" dirty="0">
                <a:solidFill>
                  <a:srgbClr val="4A5568"/>
                </a:solidFill>
                <a:latin typeface="DM Sans" pitchFamily="34" charset="0"/>
                <a:ea typeface="DM Sans" pitchFamily="34" charset="-122"/>
                <a:cs typeface="DM Sans" pitchFamily="34" charset="-120"/>
              </a:rPr>
              <a:t>Debits USD or AED, signs with an HSM key</a:t>
            </a:r>
            <a:endParaRPr lang="en-US" sz="1058" dirty="0"/>
          </a:p>
        </p:txBody>
      </p:sp>
      <p:pic>
        <p:nvPicPr>
          <p:cNvPr id="12" name="Image 0" descr="arrow-down">    </p:cNvPr>
          <p:cNvPicPr>
            <a:picLocks noChangeAspect="1"/>
          </p:cNvPicPr>
          <p:nvPr/>
        </p:nvPicPr>
        <p:blipFill>
          <a:blip r:embed="rId1"/>
          <a:srcRect l="0" r="0" t="-750" b="-750"/>
          <a:stretch/>
        </p:blipFill>
        <p:spPr>
          <a:xfrm>
            <a:off x="6019800" y="2311558"/>
            <a:ext cx="152400" cy="161131"/>
          </a:xfrm>
          <a:prstGeom prst="rect">
            <a:avLst/>
          </a:prstGeom>
        </p:spPr>
      </p:pic>
      <p:sp>
        <p:nvSpPr>
          <p:cNvPr id="13" name="Shape 10"/>
          <p:cNvSpPr/>
          <p:nvPr/>
        </p:nvSpPr>
        <p:spPr>
          <a:xfrm>
            <a:off x="815975" y="2552064"/>
            <a:ext cx="10560050" cy="1003618"/>
          </a:xfrm>
          <a:prstGeom prst="roundRect">
            <a:avLst>
              <a:gd name="adj" fmla="val 12338"/>
            </a:avLst>
          </a:prstGeom>
          <a:solidFill>
            <a:srgbClr val="FFFDF8"/>
          </a:solidFill>
          <a:ln w="6350">
            <a:solidFill>
              <a:srgbClr val="E3DFD3"/>
            </a:solidFill>
            <a:prstDash val="solid"/>
          </a:ln>
        </p:spPr>
      </p:sp>
      <p:sp>
        <p:nvSpPr>
          <p:cNvPr id="14" name="Text 11"/>
          <p:cNvSpPr/>
          <p:nvPr/>
        </p:nvSpPr>
        <p:spPr>
          <a:xfrm>
            <a:off x="919480" y="2741454"/>
            <a:ext cx="1574800" cy="434340"/>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14213D"/>
                </a:solidFill>
                <a:latin typeface="DM Sans" pitchFamily="34" charset="0"/>
                <a:ea typeface="DM Sans" pitchFamily="34" charset="-122"/>
                <a:cs typeface="DM Sans" pitchFamily="34" charset="-120"/>
              </a:rPr>
              <a:t>PurposePay platform</a:t>
            </a:r>
            <a:endParaRPr lang="en-US" sz="1400" dirty="0"/>
          </a:p>
        </p:txBody>
      </p:sp>
      <p:sp>
        <p:nvSpPr>
          <p:cNvPr id="15" name="Text 12"/>
          <p:cNvSpPr/>
          <p:nvPr/>
        </p:nvSpPr>
        <p:spPr>
          <a:xfrm>
            <a:off x="919480" y="3175794"/>
            <a:ext cx="1574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DM Sans" pitchFamily="34" charset="0"/>
                <a:ea typeface="DM Sans" pitchFamily="34" charset="-122"/>
                <a:cs typeface="DM Sans" pitchFamily="34" charset="-120"/>
              </a:rPr>
              <a:t>Middleware</a:t>
            </a:r>
            <a:endParaRPr lang="en-US" sz="1200" dirty="0"/>
          </a:p>
        </p:txBody>
      </p:sp>
      <p:sp>
        <p:nvSpPr>
          <p:cNvPr id="16" name="Shape 13"/>
          <p:cNvSpPr/>
          <p:nvPr/>
        </p:nvSpPr>
        <p:spPr>
          <a:xfrm>
            <a:off x="2599055" y="2658746"/>
            <a:ext cx="2045970" cy="790258"/>
          </a:xfrm>
          <a:prstGeom prst="roundRect">
            <a:avLst>
              <a:gd name="adj" fmla="val 10848"/>
            </a:avLst>
          </a:prstGeom>
          <a:solidFill>
            <a:srgbClr val="FFFFFF"/>
          </a:solidFill>
          <a:ln w="6350">
            <a:solidFill>
              <a:srgbClr val="CFCBBE"/>
            </a:solidFill>
            <a:prstDash val="solid"/>
          </a:ln>
        </p:spPr>
      </p:sp>
      <p:sp>
        <p:nvSpPr>
          <p:cNvPr id="17" name="Text 14"/>
          <p:cNvSpPr/>
          <p:nvPr/>
        </p:nvSpPr>
        <p:spPr>
          <a:xfrm>
            <a:off x="2740660" y="2762250"/>
            <a:ext cx="1815643" cy="245824"/>
          </a:xfrm>
          <a:prstGeom prst="rect">
            <a:avLst/>
          </a:prstGeom>
          <a:noFill/>
          <a:ln/>
        </p:spPr>
        <p:txBody>
          <a:bodyPr wrap="square" lIns="0" tIns="0" rIns="0" bIns="0" rtlCol="0" anchor="t">
            <a:normAutofit/>
          </a:bodyPr>
          <a:lstStyle/>
          <a:p>
            <a:pPr algn="l" indent="0" marL="0">
              <a:lnSpc>
                <a:spcPts val="1770"/>
              </a:lnSpc>
              <a:buNone/>
            </a:pPr>
            <a:r>
              <a:rPr lang="en-US" sz="1264" b="1" dirty="0">
                <a:solidFill>
                  <a:srgbClr val="14213D"/>
                </a:solidFill>
                <a:latin typeface="DM Sans" pitchFamily="34" charset="0"/>
                <a:ea typeface="DM Sans" pitchFamily="34" charset="-122"/>
                <a:cs typeface="DM Sans" pitchFamily="34" charset="-120"/>
              </a:rPr>
              <a:t>ISO gateway</a:t>
            </a:r>
            <a:endParaRPr lang="en-US" sz="1264" dirty="0"/>
          </a:p>
        </p:txBody>
      </p:sp>
      <p:sp>
        <p:nvSpPr>
          <p:cNvPr id="18" name="Text 15"/>
          <p:cNvSpPr/>
          <p:nvPr/>
        </p:nvSpPr>
        <p:spPr>
          <a:xfrm>
            <a:off x="2740660" y="3008074"/>
            <a:ext cx="1815643" cy="362823"/>
          </a:xfrm>
          <a:prstGeom prst="rect">
            <a:avLst/>
          </a:prstGeom>
          <a:noFill/>
          <a:ln/>
        </p:spPr>
        <p:txBody>
          <a:bodyPr wrap="square" lIns="0" tIns="0" rIns="0" bIns="0" rtlCol="0" anchor="t">
            <a:normAutofit/>
          </a:bodyPr>
          <a:lstStyle/>
          <a:p>
            <a:pPr algn="l" indent="0" marL="0">
              <a:lnSpc>
                <a:spcPts val="1336"/>
              </a:lnSpc>
              <a:buNone/>
            </a:pPr>
            <a:r>
              <a:rPr lang="en-US" sz="1069" dirty="0">
                <a:solidFill>
                  <a:srgbClr val="4A5568"/>
                </a:solidFill>
                <a:latin typeface="DM Sans" pitchFamily="34" charset="0"/>
                <a:ea typeface="DM Sans" pitchFamily="34" charset="-122"/>
                <a:cs typeface="DM Sans" pitchFamily="34" charset="-120"/>
              </a:rPr>
              <a:t>Parses pacs.008 into a contract call</a:t>
            </a:r>
            <a:endParaRPr lang="en-US" sz="1069" dirty="0"/>
          </a:p>
        </p:txBody>
      </p:sp>
      <p:sp>
        <p:nvSpPr>
          <p:cNvPr id="19" name="Shape 16"/>
          <p:cNvSpPr/>
          <p:nvPr/>
        </p:nvSpPr>
        <p:spPr>
          <a:xfrm>
            <a:off x="4806950" y="2661921"/>
            <a:ext cx="2049780" cy="783908"/>
          </a:xfrm>
          <a:prstGeom prst="roundRect">
            <a:avLst>
              <a:gd name="adj" fmla="val 10531"/>
            </a:avLst>
          </a:prstGeom>
          <a:solidFill>
            <a:srgbClr val="FCEBD6"/>
          </a:solidFill>
          <a:ln w="12700">
            <a:solidFill>
              <a:srgbClr val="E8892B"/>
            </a:solidFill>
            <a:prstDash val="solid"/>
          </a:ln>
        </p:spPr>
      </p:sp>
      <p:sp>
        <p:nvSpPr>
          <p:cNvPr id="20" name="Text 17"/>
          <p:cNvSpPr/>
          <p:nvPr/>
        </p:nvSpPr>
        <p:spPr>
          <a:xfrm>
            <a:off x="4950460" y="2767332"/>
            <a:ext cx="1815643" cy="241856"/>
          </a:xfrm>
          <a:prstGeom prst="rect">
            <a:avLst/>
          </a:prstGeom>
          <a:noFill/>
          <a:ln/>
        </p:spPr>
        <p:txBody>
          <a:bodyPr wrap="square" lIns="0" tIns="0" rIns="0" bIns="0" rtlCol="0" anchor="t">
            <a:normAutofit/>
          </a:bodyPr>
          <a:lstStyle/>
          <a:p>
            <a:pPr algn="l" indent="0" marL="0">
              <a:lnSpc>
                <a:spcPts val="1721"/>
              </a:lnSpc>
              <a:buNone/>
            </a:pPr>
            <a:r>
              <a:rPr lang="en-US" sz="1229" b="1" dirty="0">
                <a:solidFill>
                  <a:srgbClr val="14213D"/>
                </a:solidFill>
                <a:latin typeface="DM Sans" pitchFamily="34" charset="0"/>
                <a:ea typeface="DM Sans" pitchFamily="34" charset="-122"/>
                <a:cs typeface="DM Sans" pitchFamily="34" charset="-120"/>
              </a:rPr>
              <a:t>Contract engine</a:t>
            </a:r>
            <a:endParaRPr lang="en-US" sz="1229" dirty="0"/>
          </a:p>
        </p:txBody>
      </p:sp>
      <p:sp>
        <p:nvSpPr>
          <p:cNvPr id="21" name="Text 18"/>
          <p:cNvSpPr/>
          <p:nvPr/>
        </p:nvSpPr>
        <p:spPr>
          <a:xfrm>
            <a:off x="4950460" y="3009187"/>
            <a:ext cx="1815643" cy="356632"/>
          </a:xfrm>
          <a:prstGeom prst="rect">
            <a:avLst/>
          </a:prstGeom>
          <a:noFill/>
          <a:ln/>
        </p:spPr>
        <p:txBody>
          <a:bodyPr wrap="square" lIns="0" tIns="0" rIns="0" bIns="0" rtlCol="0" anchor="t">
            <a:normAutofit/>
          </a:bodyPr>
          <a:lstStyle/>
          <a:p>
            <a:pPr algn="l" indent="0" marL="0">
              <a:lnSpc>
                <a:spcPts val="1308"/>
              </a:lnSpc>
              <a:buNone/>
            </a:pPr>
            <a:r>
              <a:rPr lang="en-US" sz="1046" dirty="0">
                <a:solidFill>
                  <a:srgbClr val="4A5568"/>
                </a:solidFill>
                <a:latin typeface="DM Sans" pitchFamily="34" charset="0"/>
                <a:ea typeface="DM Sans" pitchFamily="34" charset="-122"/>
                <a:cs typeface="DM Sans" pitchFamily="34" charset="-120"/>
              </a:rPr>
              <a:t>Atomic debit, FX, mint, bucket rules</a:t>
            </a:r>
            <a:endParaRPr lang="en-US" sz="1046" dirty="0"/>
          </a:p>
        </p:txBody>
      </p:sp>
      <p:sp>
        <p:nvSpPr>
          <p:cNvPr id="22" name="Shape 19"/>
          <p:cNvSpPr/>
          <p:nvPr/>
        </p:nvSpPr>
        <p:spPr>
          <a:xfrm>
            <a:off x="7018655" y="2658746"/>
            <a:ext cx="2045970" cy="790258"/>
          </a:xfrm>
          <a:prstGeom prst="roundRect">
            <a:avLst>
              <a:gd name="adj" fmla="val 10848"/>
            </a:avLst>
          </a:prstGeom>
          <a:solidFill>
            <a:srgbClr val="FFFFFF"/>
          </a:solidFill>
          <a:ln w="6350">
            <a:solidFill>
              <a:srgbClr val="CFCBBE"/>
            </a:solidFill>
            <a:prstDash val="solid"/>
          </a:ln>
        </p:spPr>
      </p:sp>
      <p:sp>
        <p:nvSpPr>
          <p:cNvPr id="23" name="Text 20"/>
          <p:cNvSpPr/>
          <p:nvPr/>
        </p:nvSpPr>
        <p:spPr>
          <a:xfrm>
            <a:off x="7160260" y="2762250"/>
            <a:ext cx="18156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DM Sans" pitchFamily="34" charset="0"/>
                <a:ea typeface="DM Sans" pitchFamily="34" charset="-122"/>
                <a:cs typeface="DM Sans" pitchFamily="34" charset="-120"/>
              </a:rPr>
              <a:t>Compliance vault</a:t>
            </a:r>
            <a:endParaRPr lang="en-US" sz="1400" dirty="0"/>
          </a:p>
        </p:txBody>
      </p:sp>
      <p:sp>
        <p:nvSpPr>
          <p:cNvPr id="24" name="Text 21"/>
          <p:cNvSpPr/>
          <p:nvPr/>
        </p:nvSpPr>
        <p:spPr>
          <a:xfrm>
            <a:off x="7160260" y="3036571"/>
            <a:ext cx="190119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DM Sans" pitchFamily="34" charset="0"/>
                <a:ea typeface="DM Sans" pitchFamily="34" charset="-122"/>
                <a:cs typeface="DM Sans" pitchFamily="34" charset="-120"/>
              </a:rPr>
              <a:t>ZKP cap proof, sanctions</a:t>
            </a:r>
            <a:endParaRPr lang="en-US" sz="1200" dirty="0"/>
          </a:p>
        </p:txBody>
      </p:sp>
      <p:sp>
        <p:nvSpPr>
          <p:cNvPr id="25" name="Shape 22"/>
          <p:cNvSpPr/>
          <p:nvPr/>
        </p:nvSpPr>
        <p:spPr>
          <a:xfrm>
            <a:off x="9223375" y="2658746"/>
            <a:ext cx="2045970" cy="790258"/>
          </a:xfrm>
          <a:prstGeom prst="roundRect">
            <a:avLst>
              <a:gd name="adj" fmla="val 10848"/>
            </a:avLst>
          </a:prstGeom>
          <a:solidFill>
            <a:srgbClr val="FFFFFF"/>
          </a:solidFill>
          <a:ln w="6350">
            <a:solidFill>
              <a:srgbClr val="CFCBBE"/>
            </a:solidFill>
            <a:prstDash val="solid"/>
          </a:ln>
        </p:spPr>
      </p:sp>
      <p:sp>
        <p:nvSpPr>
          <p:cNvPr id="26" name="Text 23"/>
          <p:cNvSpPr/>
          <p:nvPr/>
        </p:nvSpPr>
        <p:spPr>
          <a:xfrm>
            <a:off x="9364980" y="2762250"/>
            <a:ext cx="18156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DM Sans" pitchFamily="34" charset="0"/>
                <a:ea typeface="DM Sans" pitchFamily="34" charset="-122"/>
                <a:cs typeface="DM Sans" pitchFamily="34" charset="-120"/>
              </a:rPr>
              <a:t>FX oracle</a:t>
            </a:r>
            <a:endParaRPr lang="en-US" sz="1400" dirty="0"/>
          </a:p>
        </p:txBody>
      </p:sp>
      <p:sp>
        <p:nvSpPr>
          <p:cNvPr id="27" name="Text 24"/>
          <p:cNvSpPr/>
          <p:nvPr/>
        </p:nvSpPr>
        <p:spPr>
          <a:xfrm>
            <a:off x="9364980" y="3036571"/>
            <a:ext cx="1815643"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DM Sans" pitchFamily="34" charset="0"/>
                <a:ea typeface="DM Sans" pitchFamily="34" charset="-122"/>
                <a:cs typeface="DM Sans" pitchFamily="34" charset="-120"/>
              </a:rPr>
              <a:t>Live rate, 30 s lock</a:t>
            </a:r>
            <a:endParaRPr lang="en-US" sz="1200" dirty="0"/>
          </a:p>
        </p:txBody>
      </p:sp>
      <p:pic>
        <p:nvPicPr>
          <p:cNvPr id="28" name="Image 1" descr="arrow-down">    </p:cNvPr>
          <p:cNvPicPr>
            <a:picLocks noChangeAspect="1"/>
          </p:cNvPicPr>
          <p:nvPr/>
        </p:nvPicPr>
        <p:blipFill>
          <a:blip r:embed="rId2"/>
          <a:srcRect l="0" r="0" t="-750" b="-750"/>
          <a:stretch/>
        </p:blipFill>
        <p:spPr>
          <a:xfrm>
            <a:off x="6019800" y="3635059"/>
            <a:ext cx="152400" cy="161131"/>
          </a:xfrm>
          <a:prstGeom prst="rect">
            <a:avLst/>
          </a:prstGeom>
        </p:spPr>
      </p:pic>
      <p:sp>
        <p:nvSpPr>
          <p:cNvPr id="29" name="Shape 25"/>
          <p:cNvSpPr/>
          <p:nvPr/>
        </p:nvSpPr>
        <p:spPr>
          <a:xfrm>
            <a:off x="815975" y="3875565"/>
            <a:ext cx="10560050" cy="821690"/>
          </a:xfrm>
          <a:prstGeom prst="roundRect">
            <a:avLst>
              <a:gd name="adj" fmla="val 15070"/>
            </a:avLst>
          </a:prstGeom>
          <a:solidFill>
            <a:srgbClr val="FFFDF8"/>
          </a:solidFill>
          <a:ln w="6350">
            <a:solidFill>
              <a:srgbClr val="E3DFD3"/>
            </a:solidFill>
            <a:prstDash val="solid"/>
          </a:ln>
        </p:spPr>
      </p:sp>
      <p:sp>
        <p:nvSpPr>
          <p:cNvPr id="30" name="Text 26"/>
          <p:cNvSpPr/>
          <p:nvPr/>
        </p:nvSpPr>
        <p:spPr>
          <a:xfrm>
            <a:off x="919480" y="4076226"/>
            <a:ext cx="1574800" cy="229870"/>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14213D"/>
                </a:solidFill>
                <a:latin typeface="DM Sans" pitchFamily="34" charset="0"/>
                <a:ea typeface="DM Sans" pitchFamily="34" charset="-122"/>
                <a:cs typeface="DM Sans" pitchFamily="34" charset="-120"/>
              </a:rPr>
              <a:t>Two-tier ledger</a:t>
            </a:r>
            <a:endParaRPr lang="en-US" sz="1400" dirty="0"/>
          </a:p>
        </p:txBody>
      </p:sp>
      <p:sp>
        <p:nvSpPr>
          <p:cNvPr id="31" name="Text 27"/>
          <p:cNvSpPr/>
          <p:nvPr/>
        </p:nvSpPr>
        <p:spPr>
          <a:xfrm>
            <a:off x="919480" y="4306094"/>
            <a:ext cx="1574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DM Sans" pitchFamily="34" charset="0"/>
                <a:ea typeface="DM Sans" pitchFamily="34" charset="-122"/>
                <a:cs typeface="DM Sans" pitchFamily="34" charset="-120"/>
              </a:rPr>
              <a:t>Permissioned DLT</a:t>
            </a:r>
            <a:endParaRPr lang="en-US" sz="1200" dirty="0"/>
          </a:p>
        </p:txBody>
      </p:sp>
      <p:sp>
        <p:nvSpPr>
          <p:cNvPr id="32" name="Shape 28"/>
          <p:cNvSpPr/>
          <p:nvPr/>
        </p:nvSpPr>
        <p:spPr>
          <a:xfrm>
            <a:off x="2599055" y="3982244"/>
            <a:ext cx="4255770" cy="608330"/>
          </a:xfrm>
          <a:prstGeom prst="roundRect">
            <a:avLst>
              <a:gd name="adj" fmla="val 14092"/>
            </a:avLst>
          </a:prstGeom>
          <a:solidFill>
            <a:srgbClr val="FFFFFF"/>
          </a:solidFill>
          <a:ln w="6350">
            <a:solidFill>
              <a:srgbClr val="CFCBBE"/>
            </a:solidFill>
            <a:prstDash val="solid"/>
          </a:ln>
        </p:spPr>
      </p:sp>
      <p:sp>
        <p:nvSpPr>
          <p:cNvPr id="33" name="Text 29"/>
          <p:cNvSpPr/>
          <p:nvPr/>
        </p:nvSpPr>
        <p:spPr>
          <a:xfrm>
            <a:off x="2740660" y="4085751"/>
            <a:ext cx="4091737" cy="238363"/>
          </a:xfrm>
          <a:prstGeom prst="rect">
            <a:avLst/>
          </a:prstGeom>
          <a:noFill/>
          <a:ln/>
        </p:spPr>
        <p:txBody>
          <a:bodyPr wrap="square" lIns="0" tIns="0" rIns="0" bIns="0" rtlCol="0" anchor="t">
            <a:normAutofit/>
          </a:bodyPr>
          <a:lstStyle/>
          <a:p>
            <a:pPr algn="l" indent="0" marL="0">
              <a:lnSpc>
                <a:spcPts val="1721"/>
              </a:lnSpc>
              <a:buNone/>
            </a:pPr>
            <a:r>
              <a:rPr lang="en-US" sz="1229" b="1" dirty="0">
                <a:solidFill>
                  <a:srgbClr val="14213D"/>
                </a:solidFill>
                <a:latin typeface="DM Sans" pitchFamily="34" charset="0"/>
                <a:ea typeface="DM Sans" pitchFamily="34" charset="-122"/>
                <a:cs typeface="DM Sans" pitchFamily="34" charset="-120"/>
              </a:rPr>
              <a:t>Tier 1: central bank</a:t>
            </a:r>
            <a:endParaRPr lang="en-US" sz="1229" dirty="0"/>
          </a:p>
        </p:txBody>
      </p:sp>
      <p:sp>
        <p:nvSpPr>
          <p:cNvPr id="34" name="Text 30"/>
          <p:cNvSpPr/>
          <p:nvPr/>
        </p:nvSpPr>
        <p:spPr>
          <a:xfrm>
            <a:off x="2740660" y="4324111"/>
            <a:ext cx="4091737" cy="188357"/>
          </a:xfrm>
          <a:prstGeom prst="rect">
            <a:avLst/>
          </a:prstGeom>
          <a:noFill/>
          <a:ln/>
        </p:spPr>
        <p:txBody>
          <a:bodyPr wrap="square" lIns="0" tIns="0" rIns="0" bIns="0" rtlCol="0" anchor="t">
            <a:normAutofit/>
          </a:bodyPr>
          <a:lstStyle/>
          <a:p>
            <a:pPr algn="l" indent="0" marL="0">
              <a:lnSpc>
                <a:spcPts val="1322"/>
              </a:lnSpc>
              <a:buNone/>
            </a:pPr>
            <a:r>
              <a:rPr lang="en-US" sz="1058" dirty="0">
                <a:solidFill>
                  <a:srgbClr val="4A5568"/>
                </a:solidFill>
                <a:latin typeface="DM Sans" pitchFamily="34" charset="0"/>
                <a:ea typeface="DM Sans" pitchFamily="34" charset="-122"/>
                <a:cs typeface="DM Sans" pitchFamily="34" charset="-120"/>
              </a:rPr>
              <a:t>RBI issues and controls e₹</a:t>
            </a:r>
            <a:endParaRPr lang="en-US" sz="1058" dirty="0"/>
          </a:p>
        </p:txBody>
      </p:sp>
      <p:sp>
        <p:nvSpPr>
          <p:cNvPr id="35" name="Shape 31"/>
          <p:cNvSpPr/>
          <p:nvPr/>
        </p:nvSpPr>
        <p:spPr>
          <a:xfrm>
            <a:off x="7013575" y="3982244"/>
            <a:ext cx="4255770" cy="608330"/>
          </a:xfrm>
          <a:prstGeom prst="roundRect">
            <a:avLst>
              <a:gd name="adj" fmla="val 14092"/>
            </a:avLst>
          </a:prstGeom>
          <a:solidFill>
            <a:srgbClr val="FFFFFF"/>
          </a:solidFill>
          <a:ln w="6350">
            <a:solidFill>
              <a:srgbClr val="CFCBBE"/>
            </a:solidFill>
            <a:prstDash val="solid"/>
          </a:ln>
        </p:spPr>
      </p:sp>
      <p:sp>
        <p:nvSpPr>
          <p:cNvPr id="36" name="Text 32"/>
          <p:cNvSpPr/>
          <p:nvPr/>
        </p:nvSpPr>
        <p:spPr>
          <a:xfrm>
            <a:off x="7155180" y="4085751"/>
            <a:ext cx="4091737" cy="238363"/>
          </a:xfrm>
          <a:prstGeom prst="rect">
            <a:avLst/>
          </a:prstGeom>
          <a:noFill/>
          <a:ln/>
        </p:spPr>
        <p:txBody>
          <a:bodyPr wrap="square" lIns="0" tIns="0" rIns="0" bIns="0" rtlCol="0" anchor="t">
            <a:normAutofit/>
          </a:bodyPr>
          <a:lstStyle/>
          <a:p>
            <a:pPr algn="l" indent="0" marL="0">
              <a:lnSpc>
                <a:spcPts val="1721"/>
              </a:lnSpc>
              <a:buNone/>
            </a:pPr>
            <a:r>
              <a:rPr lang="en-US" sz="1229" b="1" dirty="0">
                <a:solidFill>
                  <a:srgbClr val="14213D"/>
                </a:solidFill>
                <a:latin typeface="DM Sans" pitchFamily="34" charset="0"/>
                <a:ea typeface="DM Sans" pitchFamily="34" charset="-122"/>
                <a:cs typeface="DM Sans" pitchFamily="34" charset="-120"/>
              </a:rPr>
              <a:t>Tier 2: commercial banks</a:t>
            </a:r>
            <a:endParaRPr lang="en-US" sz="1229" dirty="0"/>
          </a:p>
        </p:txBody>
      </p:sp>
      <p:sp>
        <p:nvSpPr>
          <p:cNvPr id="37" name="Text 33"/>
          <p:cNvSpPr/>
          <p:nvPr/>
        </p:nvSpPr>
        <p:spPr>
          <a:xfrm>
            <a:off x="7155180" y="4324111"/>
            <a:ext cx="4091737" cy="188357"/>
          </a:xfrm>
          <a:prstGeom prst="rect">
            <a:avLst/>
          </a:prstGeom>
          <a:noFill/>
          <a:ln/>
        </p:spPr>
        <p:txBody>
          <a:bodyPr wrap="square" lIns="0" tIns="0" rIns="0" bIns="0" rtlCol="0" anchor="t">
            <a:normAutofit/>
          </a:bodyPr>
          <a:lstStyle/>
          <a:p>
            <a:pPr algn="l" indent="0" marL="0">
              <a:lnSpc>
                <a:spcPts val="1322"/>
              </a:lnSpc>
              <a:buNone/>
            </a:pPr>
            <a:r>
              <a:rPr lang="en-US" sz="1058" dirty="0">
                <a:solidFill>
                  <a:srgbClr val="4A5568"/>
                </a:solidFill>
                <a:latin typeface="DM Sans" pitchFamily="34" charset="0"/>
                <a:ea typeface="DM Sans" pitchFamily="34" charset="-122"/>
                <a:cs typeface="DM Sans" pitchFamily="34" charset="-120"/>
              </a:rPr>
              <a:t>SBI, HDFC and others distribute</a:t>
            </a:r>
            <a:endParaRPr lang="en-US" sz="1058" dirty="0"/>
          </a:p>
        </p:txBody>
      </p:sp>
      <p:pic>
        <p:nvPicPr>
          <p:cNvPr id="38" name="Image 2" descr="arrow-down">    </p:cNvPr>
          <p:cNvPicPr>
            <a:picLocks noChangeAspect="1"/>
          </p:cNvPicPr>
          <p:nvPr/>
        </p:nvPicPr>
        <p:blipFill>
          <a:blip r:embed="rId3"/>
          <a:srcRect l="0" r="0" t="-750" b="-750"/>
          <a:stretch/>
        </p:blipFill>
        <p:spPr>
          <a:xfrm>
            <a:off x="6019800" y="4776629"/>
            <a:ext cx="152400" cy="161131"/>
          </a:xfrm>
          <a:prstGeom prst="rect">
            <a:avLst/>
          </a:prstGeom>
        </p:spPr>
      </p:pic>
      <p:sp>
        <p:nvSpPr>
          <p:cNvPr id="39" name="Shape 34"/>
          <p:cNvSpPr/>
          <p:nvPr/>
        </p:nvSpPr>
        <p:spPr>
          <a:xfrm>
            <a:off x="815975" y="5017136"/>
            <a:ext cx="10560050" cy="821690"/>
          </a:xfrm>
          <a:prstGeom prst="roundRect">
            <a:avLst>
              <a:gd name="adj" fmla="val 15070"/>
            </a:avLst>
          </a:prstGeom>
          <a:solidFill>
            <a:srgbClr val="FFFDF8"/>
          </a:solidFill>
          <a:ln w="6350">
            <a:solidFill>
              <a:srgbClr val="E3DFD3"/>
            </a:solidFill>
            <a:prstDash val="solid"/>
          </a:ln>
        </p:spPr>
      </p:sp>
      <p:sp>
        <p:nvSpPr>
          <p:cNvPr id="40" name="Text 35"/>
          <p:cNvSpPr/>
          <p:nvPr/>
        </p:nvSpPr>
        <p:spPr>
          <a:xfrm>
            <a:off x="919480" y="5217796"/>
            <a:ext cx="1574800" cy="229870"/>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14213D"/>
                </a:solidFill>
                <a:latin typeface="DM Sans" pitchFamily="34" charset="0"/>
                <a:ea typeface="DM Sans" pitchFamily="34" charset="-122"/>
                <a:cs typeface="DM Sans" pitchFamily="34" charset="-120"/>
              </a:rPr>
              <a:t>Receiver side</a:t>
            </a:r>
            <a:endParaRPr lang="en-US" sz="1400" dirty="0"/>
          </a:p>
        </p:txBody>
      </p:sp>
      <p:sp>
        <p:nvSpPr>
          <p:cNvPr id="41" name="Text 36"/>
          <p:cNvSpPr/>
          <p:nvPr/>
        </p:nvSpPr>
        <p:spPr>
          <a:xfrm>
            <a:off x="919480" y="5447664"/>
            <a:ext cx="1574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DM Sans" pitchFamily="34" charset="0"/>
                <a:ea typeface="DM Sans" pitchFamily="34" charset="-122"/>
                <a:cs typeface="DM Sans" pitchFamily="34" charset="-120"/>
              </a:rPr>
              <a:t>India</a:t>
            </a:r>
            <a:endParaRPr lang="en-US" sz="1200" dirty="0"/>
          </a:p>
        </p:txBody>
      </p:sp>
      <p:sp>
        <p:nvSpPr>
          <p:cNvPr id="42" name="Shape 37"/>
          <p:cNvSpPr/>
          <p:nvPr/>
        </p:nvSpPr>
        <p:spPr>
          <a:xfrm>
            <a:off x="2599055" y="5123814"/>
            <a:ext cx="4255770" cy="608330"/>
          </a:xfrm>
          <a:prstGeom prst="roundRect">
            <a:avLst>
              <a:gd name="adj" fmla="val 14092"/>
            </a:avLst>
          </a:prstGeom>
          <a:solidFill>
            <a:srgbClr val="FFFFFF"/>
          </a:solidFill>
          <a:ln w="6350">
            <a:solidFill>
              <a:srgbClr val="CFCBBE"/>
            </a:solidFill>
            <a:prstDash val="solid"/>
          </a:ln>
        </p:spPr>
      </p:sp>
      <p:sp>
        <p:nvSpPr>
          <p:cNvPr id="43" name="Text 38"/>
          <p:cNvSpPr/>
          <p:nvPr/>
        </p:nvSpPr>
        <p:spPr>
          <a:xfrm>
            <a:off x="2740660" y="5227321"/>
            <a:ext cx="4091737" cy="238363"/>
          </a:xfrm>
          <a:prstGeom prst="rect">
            <a:avLst/>
          </a:prstGeom>
          <a:noFill/>
          <a:ln/>
        </p:spPr>
        <p:txBody>
          <a:bodyPr wrap="square" lIns="0" tIns="0" rIns="0" bIns="0" rtlCol="0" anchor="t">
            <a:normAutofit/>
          </a:bodyPr>
          <a:lstStyle/>
          <a:p>
            <a:pPr algn="l" indent="0" marL="0">
              <a:lnSpc>
                <a:spcPts val="1721"/>
              </a:lnSpc>
              <a:buNone/>
            </a:pPr>
            <a:r>
              <a:rPr lang="en-US" sz="1229" b="1" dirty="0">
                <a:solidFill>
                  <a:srgbClr val="14213D"/>
                </a:solidFill>
                <a:latin typeface="DM Sans" pitchFamily="34" charset="0"/>
                <a:ea typeface="DM Sans" pitchFamily="34" charset="-122"/>
                <a:cs typeface="DM Sans" pitchFamily="34" charset="-120"/>
              </a:rPr>
              <a:t>Receiver wallet</a:t>
            </a:r>
            <a:endParaRPr lang="en-US" sz="1229" dirty="0"/>
          </a:p>
        </p:txBody>
      </p:sp>
      <p:sp>
        <p:nvSpPr>
          <p:cNvPr id="44" name="Text 39"/>
          <p:cNvSpPr/>
          <p:nvPr/>
        </p:nvSpPr>
        <p:spPr>
          <a:xfrm>
            <a:off x="2740660" y="5465685"/>
            <a:ext cx="4091737" cy="188357"/>
          </a:xfrm>
          <a:prstGeom prst="rect">
            <a:avLst/>
          </a:prstGeom>
          <a:noFill/>
          <a:ln/>
        </p:spPr>
        <p:txBody>
          <a:bodyPr wrap="square" lIns="0" tIns="0" rIns="0" bIns="0" rtlCol="0" anchor="t">
            <a:normAutofit/>
          </a:bodyPr>
          <a:lstStyle/>
          <a:p>
            <a:pPr algn="l" indent="0" marL="0">
              <a:lnSpc>
                <a:spcPts val="1322"/>
              </a:lnSpc>
              <a:buNone/>
            </a:pPr>
            <a:r>
              <a:rPr lang="en-US" sz="1058" dirty="0">
                <a:solidFill>
                  <a:srgbClr val="4A5568"/>
                </a:solidFill>
                <a:latin typeface="DM Sans" pitchFamily="34" charset="0"/>
                <a:ea typeface="DM Sans" pitchFamily="34" charset="-122"/>
                <a:cs typeface="DM Sans" pitchFamily="34" charset="-120"/>
              </a:rPr>
              <a:t>e₹ held in purpose buckets</a:t>
            </a:r>
            <a:endParaRPr lang="en-US" sz="1058" dirty="0"/>
          </a:p>
        </p:txBody>
      </p:sp>
      <p:sp>
        <p:nvSpPr>
          <p:cNvPr id="45" name="Shape 40"/>
          <p:cNvSpPr/>
          <p:nvPr/>
        </p:nvSpPr>
        <p:spPr>
          <a:xfrm>
            <a:off x="7013575" y="5123814"/>
            <a:ext cx="4255770" cy="608330"/>
          </a:xfrm>
          <a:prstGeom prst="roundRect">
            <a:avLst>
              <a:gd name="adj" fmla="val 14092"/>
            </a:avLst>
          </a:prstGeom>
          <a:solidFill>
            <a:srgbClr val="FFFFFF"/>
          </a:solidFill>
          <a:ln w="6350">
            <a:solidFill>
              <a:srgbClr val="CFCBBE"/>
            </a:solidFill>
            <a:prstDash val="solid"/>
          </a:ln>
        </p:spPr>
      </p:sp>
      <p:sp>
        <p:nvSpPr>
          <p:cNvPr id="46" name="Text 41"/>
          <p:cNvSpPr/>
          <p:nvPr/>
        </p:nvSpPr>
        <p:spPr>
          <a:xfrm>
            <a:off x="7155180" y="5227321"/>
            <a:ext cx="4091737" cy="238363"/>
          </a:xfrm>
          <a:prstGeom prst="rect">
            <a:avLst/>
          </a:prstGeom>
          <a:noFill/>
          <a:ln/>
        </p:spPr>
        <p:txBody>
          <a:bodyPr wrap="square" lIns="0" tIns="0" rIns="0" bIns="0" rtlCol="0" anchor="t">
            <a:normAutofit/>
          </a:bodyPr>
          <a:lstStyle/>
          <a:p>
            <a:pPr algn="l" indent="0" marL="0">
              <a:lnSpc>
                <a:spcPts val="1721"/>
              </a:lnSpc>
              <a:buNone/>
            </a:pPr>
            <a:r>
              <a:rPr lang="en-US" sz="1229" b="1" dirty="0">
                <a:solidFill>
                  <a:srgbClr val="14213D"/>
                </a:solidFill>
                <a:latin typeface="DM Sans" pitchFamily="34" charset="0"/>
                <a:ea typeface="DM Sans" pitchFamily="34" charset="-122"/>
                <a:cs typeface="DM Sans" pitchFamily="34" charset="-120"/>
              </a:rPr>
              <a:t>Merchant POS</a:t>
            </a:r>
            <a:endParaRPr lang="en-US" sz="1229" dirty="0"/>
          </a:p>
        </p:txBody>
      </p:sp>
      <p:sp>
        <p:nvSpPr>
          <p:cNvPr id="47" name="Text 42"/>
          <p:cNvSpPr/>
          <p:nvPr/>
        </p:nvSpPr>
        <p:spPr>
          <a:xfrm>
            <a:off x="7155180" y="5465685"/>
            <a:ext cx="4091737" cy="188357"/>
          </a:xfrm>
          <a:prstGeom prst="rect">
            <a:avLst/>
          </a:prstGeom>
          <a:noFill/>
          <a:ln/>
        </p:spPr>
        <p:txBody>
          <a:bodyPr wrap="square" lIns="0" tIns="0" rIns="0" bIns="0" rtlCol="0" anchor="t">
            <a:normAutofit/>
          </a:bodyPr>
          <a:lstStyle/>
          <a:p>
            <a:pPr algn="l" indent="0" marL="0">
              <a:lnSpc>
                <a:spcPts val="1322"/>
              </a:lnSpc>
              <a:buNone/>
            </a:pPr>
            <a:r>
              <a:rPr lang="en-US" sz="1058" dirty="0">
                <a:solidFill>
                  <a:srgbClr val="4A5568"/>
                </a:solidFill>
                <a:latin typeface="DM Sans" pitchFamily="34" charset="0"/>
                <a:ea typeface="DM Sans" pitchFamily="34" charset="-122"/>
                <a:cs typeface="DM Sans" pitchFamily="34" charset="-120"/>
              </a:rPr>
              <a:t>UPI/e₹ QR carries the 4-digit MCC</a:t>
            </a:r>
            <a:endParaRPr lang="en-US" sz="1058" dirty="0"/>
          </a:p>
        </p:txBody>
      </p:sp>
      <p:sp>
        <p:nvSpPr>
          <p:cNvPr id="48" name="Text 43"/>
          <p:cNvSpPr/>
          <p:nvPr/>
        </p:nvSpPr>
        <p:spPr>
          <a:xfrm>
            <a:off x="812800" y="6238239"/>
            <a:ext cx="44028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PurposePay · Digital Rupee Cross-Border Hackathon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3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E"/>
                </a:solidFill>
                <a:latin typeface="DM Sans" pitchFamily="34" charset="0"/>
                <a:ea typeface="DM Sans" pitchFamily="34" charset="-122"/>
                <a:cs typeface="DM Sans" pitchFamily="34" charset="-120"/>
              </a:rPr>
              <a:t>Five steps from tap to merchant scan</a:t>
            </a:r>
            <a:endParaRPr lang="en-US" sz="3200" dirty="0"/>
          </a:p>
        </p:txBody>
      </p:sp>
      <p:sp>
        <p:nvSpPr>
          <p:cNvPr id="3" name="Shape 1"/>
          <p:cNvSpPr/>
          <p:nvPr/>
        </p:nvSpPr>
        <p:spPr>
          <a:xfrm>
            <a:off x="815975" y="2281557"/>
            <a:ext cx="1982946" cy="2289810"/>
          </a:xfrm>
          <a:prstGeom prst="roundRect">
            <a:avLst>
              <a:gd name="adj" fmla="val 7525"/>
            </a:avLst>
          </a:prstGeom>
          <a:solidFill>
            <a:srgbClr val="1A2B57"/>
          </a:solidFill>
          <a:ln w="6350">
            <a:solidFill>
              <a:srgbClr val="34509A"/>
            </a:solidFill>
            <a:prstDash val="solid"/>
          </a:ln>
        </p:spPr>
      </p:sp>
      <p:sp>
        <p:nvSpPr>
          <p:cNvPr id="4" name="Text 2"/>
          <p:cNvSpPr/>
          <p:nvPr/>
        </p:nvSpPr>
        <p:spPr>
          <a:xfrm>
            <a:off x="995680" y="248666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A04A"/>
          </a:solidFill>
          <a:ln/>
        </p:spPr>
        <p:txBody>
          <a:bodyPr wrap="square" lIns="0" tIns="0" rIns="0" bIns="0" rtlCol="0" anchor="t">
            <a:normAutofit/>
          </a:bodyPr>
          <a:lstStyle/>
          <a:p>
            <a:pPr algn="ctr" indent="0" marL="0">
              <a:lnSpc>
                <a:spcPts val="2800"/>
              </a:lnSpc>
              <a:buNone/>
            </a:pPr>
            <a:r>
              <a:rPr lang="en-US" sz="1600" b="1" dirty="0">
                <a:solidFill>
                  <a:srgbClr val="0F1B3A"/>
                </a:solidFill>
                <a:latin typeface="DM Sans" pitchFamily="34" charset="0"/>
                <a:ea typeface="DM Sans" pitchFamily="34" charset="-122"/>
                <a:cs typeface="DM Sans" pitchFamily="34" charset="-120"/>
              </a:rPr>
              <a:t>1</a:t>
            </a:r>
            <a:endParaRPr lang="en-US" sz="1600" dirty="0"/>
          </a:p>
        </p:txBody>
      </p:sp>
      <p:sp>
        <p:nvSpPr>
          <p:cNvPr id="5" name="Text 3"/>
          <p:cNvSpPr/>
          <p:nvPr/>
        </p:nvSpPr>
        <p:spPr>
          <a:xfrm>
            <a:off x="995680" y="2943861"/>
            <a:ext cx="167433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DM Sans" pitchFamily="34" charset="0"/>
                <a:ea typeface="DM Sans" pitchFamily="34" charset="-122"/>
                <a:cs typeface="DM Sans" pitchFamily="34" charset="-120"/>
              </a:rPr>
              <a:t>Initiate</a:t>
            </a:r>
            <a:endParaRPr lang="en-US" sz="1600" dirty="0"/>
          </a:p>
        </p:txBody>
      </p:sp>
      <p:sp>
        <p:nvSpPr>
          <p:cNvPr id="6" name="Text 4"/>
          <p:cNvSpPr/>
          <p:nvPr/>
        </p:nvSpPr>
        <p:spPr>
          <a:xfrm>
            <a:off x="995680" y="3289300"/>
            <a:ext cx="1674336"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DDF0"/>
                </a:solidFill>
                <a:latin typeface="DM Sans" pitchFamily="34" charset="0"/>
                <a:ea typeface="DM Sans" pitchFamily="34" charset="-122"/>
                <a:cs typeface="DM Sans" pitchFamily="34" charset="-120"/>
              </a:rPr>
              <a:t>Sender picks USD 1,000 and a 40/40/20 split. The app builds a signed pacs.008 message.</a:t>
            </a:r>
            <a:endParaRPr lang="en-US" sz="1200" dirty="0"/>
          </a:p>
        </p:txBody>
      </p:sp>
      <p:sp>
        <p:nvSpPr>
          <p:cNvPr id="7" name="Shape 5"/>
          <p:cNvSpPr/>
          <p:nvPr/>
        </p:nvSpPr>
        <p:spPr>
          <a:xfrm>
            <a:off x="2957671" y="2281557"/>
            <a:ext cx="1983026" cy="2289810"/>
          </a:xfrm>
          <a:prstGeom prst="roundRect">
            <a:avLst>
              <a:gd name="adj" fmla="val 7525"/>
            </a:avLst>
          </a:prstGeom>
          <a:solidFill>
            <a:srgbClr val="1A2B57"/>
          </a:solidFill>
          <a:ln w="6350">
            <a:solidFill>
              <a:srgbClr val="34509A"/>
            </a:solidFill>
            <a:prstDash val="solid"/>
          </a:ln>
        </p:spPr>
      </p:sp>
      <p:sp>
        <p:nvSpPr>
          <p:cNvPr id="8" name="Text 6"/>
          <p:cNvSpPr/>
          <p:nvPr/>
        </p:nvSpPr>
        <p:spPr>
          <a:xfrm>
            <a:off x="3137376" y="248666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A04A"/>
          </a:solidFill>
          <a:ln/>
        </p:spPr>
        <p:txBody>
          <a:bodyPr wrap="square" lIns="0" tIns="0" rIns="0" bIns="0" rtlCol="0" anchor="t">
            <a:normAutofit/>
          </a:bodyPr>
          <a:lstStyle/>
          <a:p>
            <a:pPr algn="ctr" indent="0" marL="0">
              <a:lnSpc>
                <a:spcPts val="2800"/>
              </a:lnSpc>
              <a:buNone/>
            </a:pPr>
            <a:r>
              <a:rPr lang="en-US" sz="1600" b="1" dirty="0">
                <a:solidFill>
                  <a:srgbClr val="0F1B3A"/>
                </a:solidFill>
                <a:latin typeface="DM Sans" pitchFamily="34" charset="0"/>
                <a:ea typeface="DM Sans" pitchFamily="34" charset="-122"/>
                <a:cs typeface="DM Sans" pitchFamily="34" charset="-120"/>
              </a:rPr>
              <a:t>2</a:t>
            </a:r>
            <a:endParaRPr lang="en-US" sz="1600" dirty="0"/>
          </a:p>
        </p:txBody>
      </p:sp>
      <p:sp>
        <p:nvSpPr>
          <p:cNvPr id="9" name="Text 7"/>
          <p:cNvSpPr/>
          <p:nvPr/>
        </p:nvSpPr>
        <p:spPr>
          <a:xfrm>
            <a:off x="3137376" y="2943861"/>
            <a:ext cx="167441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DM Sans" pitchFamily="34" charset="0"/>
                <a:ea typeface="DM Sans" pitchFamily="34" charset="-122"/>
                <a:cs typeface="DM Sans" pitchFamily="34" charset="-120"/>
              </a:rPr>
              <a:t>Comply</a:t>
            </a:r>
            <a:endParaRPr lang="en-US" sz="1600" dirty="0"/>
          </a:p>
        </p:txBody>
      </p:sp>
      <p:sp>
        <p:nvSpPr>
          <p:cNvPr id="10" name="Text 8"/>
          <p:cNvSpPr/>
          <p:nvPr/>
        </p:nvSpPr>
        <p:spPr>
          <a:xfrm>
            <a:off x="3137376" y="3289300"/>
            <a:ext cx="1674416"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DDF0"/>
                </a:solidFill>
                <a:latin typeface="DM Sans" pitchFamily="34" charset="0"/>
                <a:ea typeface="DM Sans" pitchFamily="34" charset="-122"/>
                <a:cs typeface="DM Sans" pitchFamily="34" charset="-120"/>
              </a:rPr>
              <a:t>A zero-knowledge proof shows the annual cap holds. Sanctions and AML screening run.</a:t>
            </a:r>
            <a:endParaRPr lang="en-US" sz="1200" dirty="0"/>
          </a:p>
        </p:txBody>
      </p:sp>
      <p:sp>
        <p:nvSpPr>
          <p:cNvPr id="11" name="Shape 9"/>
          <p:cNvSpPr/>
          <p:nvPr/>
        </p:nvSpPr>
        <p:spPr>
          <a:xfrm>
            <a:off x="5099447" y="2281557"/>
            <a:ext cx="1982946" cy="2289810"/>
          </a:xfrm>
          <a:prstGeom prst="roundRect">
            <a:avLst>
              <a:gd name="adj" fmla="val 7525"/>
            </a:avLst>
          </a:prstGeom>
          <a:solidFill>
            <a:srgbClr val="1A2B57"/>
          </a:solidFill>
          <a:ln w="6350">
            <a:solidFill>
              <a:srgbClr val="34509A"/>
            </a:solidFill>
            <a:prstDash val="solid"/>
          </a:ln>
        </p:spPr>
      </p:sp>
      <p:sp>
        <p:nvSpPr>
          <p:cNvPr id="12" name="Text 10"/>
          <p:cNvSpPr/>
          <p:nvPr/>
        </p:nvSpPr>
        <p:spPr>
          <a:xfrm>
            <a:off x="5279152" y="248666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A04A"/>
          </a:solidFill>
          <a:ln/>
        </p:spPr>
        <p:txBody>
          <a:bodyPr wrap="square" lIns="0" tIns="0" rIns="0" bIns="0" rtlCol="0" anchor="t">
            <a:normAutofit/>
          </a:bodyPr>
          <a:lstStyle/>
          <a:p>
            <a:pPr algn="ctr" indent="0" marL="0">
              <a:lnSpc>
                <a:spcPts val="2800"/>
              </a:lnSpc>
              <a:buNone/>
            </a:pPr>
            <a:r>
              <a:rPr lang="en-US" sz="1600" b="1" dirty="0">
                <a:solidFill>
                  <a:srgbClr val="0F1B3A"/>
                </a:solidFill>
                <a:latin typeface="DM Sans" pitchFamily="34" charset="0"/>
                <a:ea typeface="DM Sans" pitchFamily="34" charset="-122"/>
                <a:cs typeface="DM Sans" pitchFamily="34" charset="-120"/>
              </a:rPr>
              <a:t>3</a:t>
            </a:r>
            <a:endParaRPr lang="en-US" sz="1600" dirty="0"/>
          </a:p>
        </p:txBody>
      </p:sp>
      <p:sp>
        <p:nvSpPr>
          <p:cNvPr id="13" name="Text 11"/>
          <p:cNvSpPr/>
          <p:nvPr/>
        </p:nvSpPr>
        <p:spPr>
          <a:xfrm>
            <a:off x="5279152" y="2943861"/>
            <a:ext cx="167433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DM Sans" pitchFamily="34" charset="0"/>
                <a:ea typeface="DM Sans" pitchFamily="34" charset="-122"/>
                <a:cs typeface="DM Sans" pitchFamily="34" charset="-120"/>
              </a:rPr>
              <a:t>Lock FX</a:t>
            </a:r>
            <a:endParaRPr lang="en-US" sz="1600" dirty="0"/>
          </a:p>
        </p:txBody>
      </p:sp>
      <p:sp>
        <p:nvSpPr>
          <p:cNvPr id="14" name="Text 12"/>
          <p:cNvSpPr/>
          <p:nvPr/>
        </p:nvSpPr>
        <p:spPr>
          <a:xfrm>
            <a:off x="5279152" y="3289300"/>
            <a:ext cx="1674336"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DDF0"/>
                </a:solidFill>
                <a:latin typeface="DM Sans" pitchFamily="34" charset="0"/>
                <a:ea typeface="DM Sans" pitchFamily="34" charset="-122"/>
                <a:cs typeface="DM Sans" pitchFamily="34" charset="-120"/>
              </a:rPr>
              <a:t>An HSM signs the payload. The oracle locks the live rate for 30 seconds.</a:t>
            </a:r>
            <a:endParaRPr lang="en-US" sz="1200" dirty="0"/>
          </a:p>
        </p:txBody>
      </p:sp>
      <p:sp>
        <p:nvSpPr>
          <p:cNvPr id="15" name="Shape 13"/>
          <p:cNvSpPr/>
          <p:nvPr/>
        </p:nvSpPr>
        <p:spPr>
          <a:xfrm>
            <a:off x="7244318" y="2284732"/>
            <a:ext cx="1986836" cy="2283460"/>
          </a:xfrm>
          <a:prstGeom prst="roundRect">
            <a:avLst>
              <a:gd name="adj" fmla="val 7351"/>
            </a:avLst>
          </a:prstGeom>
          <a:solidFill>
            <a:srgbClr val="243C80"/>
          </a:solidFill>
          <a:ln w="12700">
            <a:solidFill>
              <a:srgbClr val="F2A04A"/>
            </a:solidFill>
            <a:prstDash val="solid"/>
          </a:ln>
        </p:spPr>
      </p:sp>
      <p:sp>
        <p:nvSpPr>
          <p:cNvPr id="16" name="Text 14"/>
          <p:cNvSpPr/>
          <p:nvPr/>
        </p:nvSpPr>
        <p:spPr>
          <a:xfrm>
            <a:off x="7425928" y="2491739"/>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A04A"/>
          </a:solidFill>
          <a:ln/>
        </p:spPr>
        <p:txBody>
          <a:bodyPr wrap="square" lIns="0" tIns="0" rIns="0" bIns="0" rtlCol="0" anchor="t">
            <a:normAutofit/>
          </a:bodyPr>
          <a:lstStyle/>
          <a:p>
            <a:pPr algn="ctr" indent="0" marL="0">
              <a:lnSpc>
                <a:spcPts val="2800"/>
              </a:lnSpc>
              <a:buNone/>
            </a:pPr>
            <a:r>
              <a:rPr lang="en-US" sz="1600" b="1" dirty="0">
                <a:solidFill>
                  <a:srgbClr val="0F1B3A"/>
                </a:solidFill>
                <a:latin typeface="DM Sans" pitchFamily="34" charset="0"/>
                <a:ea typeface="DM Sans" pitchFamily="34" charset="-122"/>
                <a:cs typeface="DM Sans" pitchFamily="34" charset="-120"/>
              </a:rPr>
              <a:t>4</a:t>
            </a:r>
            <a:endParaRPr lang="en-US" sz="1600" dirty="0"/>
          </a:p>
        </p:txBody>
      </p:sp>
      <p:sp>
        <p:nvSpPr>
          <p:cNvPr id="17" name="Text 15"/>
          <p:cNvSpPr/>
          <p:nvPr/>
        </p:nvSpPr>
        <p:spPr>
          <a:xfrm>
            <a:off x="7425928" y="2948939"/>
            <a:ext cx="167441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DM Sans" pitchFamily="34" charset="0"/>
                <a:ea typeface="DM Sans" pitchFamily="34" charset="-122"/>
                <a:cs typeface="DM Sans" pitchFamily="34" charset="-120"/>
              </a:rPr>
              <a:t>Settle</a:t>
            </a:r>
            <a:endParaRPr lang="en-US" sz="1600" dirty="0"/>
          </a:p>
        </p:txBody>
      </p:sp>
      <p:sp>
        <p:nvSpPr>
          <p:cNvPr id="18" name="Text 16"/>
          <p:cNvSpPr/>
          <p:nvPr/>
        </p:nvSpPr>
        <p:spPr>
          <a:xfrm>
            <a:off x="7425928" y="3294382"/>
            <a:ext cx="1674416"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DM Sans" pitchFamily="34" charset="0"/>
                <a:ea typeface="DM Sans" pitchFamily="34" charset="-122"/>
                <a:cs typeface="DM Sans" pitchFamily="34" charset="-120"/>
              </a:rPr>
              <a:t>The contract debits USD 1,000 and mints ₹33,400, ₹33,400 and ₹16,700 into three buckets.</a:t>
            </a:r>
            <a:endParaRPr lang="en-US" sz="1200" dirty="0"/>
          </a:p>
        </p:txBody>
      </p:sp>
      <p:sp>
        <p:nvSpPr>
          <p:cNvPr id="19" name="Shape 17"/>
          <p:cNvSpPr/>
          <p:nvPr/>
        </p:nvSpPr>
        <p:spPr>
          <a:xfrm>
            <a:off x="9393079" y="2281557"/>
            <a:ext cx="1982946" cy="2289810"/>
          </a:xfrm>
          <a:prstGeom prst="roundRect">
            <a:avLst>
              <a:gd name="adj" fmla="val 7525"/>
            </a:avLst>
          </a:prstGeom>
          <a:solidFill>
            <a:srgbClr val="1A2B57"/>
          </a:solidFill>
          <a:ln w="6350">
            <a:solidFill>
              <a:srgbClr val="34509A"/>
            </a:solidFill>
            <a:prstDash val="solid"/>
          </a:ln>
        </p:spPr>
      </p:sp>
      <p:sp>
        <p:nvSpPr>
          <p:cNvPr id="20" name="Text 18"/>
          <p:cNvSpPr/>
          <p:nvPr/>
        </p:nvSpPr>
        <p:spPr>
          <a:xfrm>
            <a:off x="9572784" y="248666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A04A"/>
          </a:solidFill>
          <a:ln/>
        </p:spPr>
        <p:txBody>
          <a:bodyPr wrap="square" lIns="0" tIns="0" rIns="0" bIns="0" rtlCol="0" anchor="t">
            <a:normAutofit/>
          </a:bodyPr>
          <a:lstStyle/>
          <a:p>
            <a:pPr algn="ctr" indent="0" marL="0">
              <a:lnSpc>
                <a:spcPts val="2800"/>
              </a:lnSpc>
              <a:buNone/>
            </a:pPr>
            <a:r>
              <a:rPr lang="en-US" sz="1600" b="1" dirty="0">
                <a:solidFill>
                  <a:srgbClr val="0F1B3A"/>
                </a:solidFill>
                <a:latin typeface="DM Sans" pitchFamily="34" charset="0"/>
                <a:ea typeface="DM Sans" pitchFamily="34" charset="-122"/>
                <a:cs typeface="DM Sans" pitchFamily="34" charset="-120"/>
              </a:rPr>
              <a:t>5</a:t>
            </a:r>
            <a:endParaRPr lang="en-US" sz="1600" dirty="0"/>
          </a:p>
        </p:txBody>
      </p:sp>
      <p:sp>
        <p:nvSpPr>
          <p:cNvPr id="21" name="Text 19"/>
          <p:cNvSpPr/>
          <p:nvPr/>
        </p:nvSpPr>
        <p:spPr>
          <a:xfrm>
            <a:off x="9572784" y="2943861"/>
            <a:ext cx="167433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DM Sans" pitchFamily="34" charset="0"/>
                <a:ea typeface="DM Sans" pitchFamily="34" charset="-122"/>
                <a:cs typeface="DM Sans" pitchFamily="34" charset="-120"/>
              </a:rPr>
              <a:t>Spend</a:t>
            </a:r>
            <a:endParaRPr lang="en-US" sz="1600" dirty="0"/>
          </a:p>
        </p:txBody>
      </p:sp>
      <p:sp>
        <p:nvSpPr>
          <p:cNvPr id="22" name="Text 20"/>
          <p:cNvSpPr/>
          <p:nvPr/>
        </p:nvSpPr>
        <p:spPr>
          <a:xfrm>
            <a:off x="9572784" y="3289300"/>
            <a:ext cx="1674336"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5DDF0"/>
                </a:solidFill>
                <a:latin typeface="DM Sans" pitchFamily="34" charset="0"/>
                <a:ea typeface="DM Sans" pitchFamily="34" charset="-122"/>
                <a:cs typeface="DM Sans" pitchFamily="34" charset="-120"/>
              </a:rPr>
              <a:t>Receiver scans a QR. MCC 8062 is approved from Healthcare. MCC 5921 is blocked.</a:t>
            </a:r>
            <a:endParaRPr lang="en-US" sz="1200" dirty="0"/>
          </a:p>
        </p:txBody>
      </p:sp>
      <p:sp>
        <p:nvSpPr>
          <p:cNvPr id="23" name="Text 21"/>
          <p:cNvSpPr/>
          <p:nvPr/>
        </p:nvSpPr>
        <p:spPr>
          <a:xfrm>
            <a:off x="812800" y="5593082"/>
            <a:ext cx="113792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DE"/>
                </a:solidFill>
                <a:latin typeface="DM Sans" pitchFamily="34" charset="0"/>
                <a:ea typeface="DM Sans" pitchFamily="34" charset="-122"/>
                <a:cs typeface="DM Sans" pitchFamily="34" charset="-120"/>
              </a:rPr>
              <a:t>The same USD 1,000 over SWIFT takes 1–3 days through 2–4 correspondent banks and lands as cash with no purpose attached.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Purpose rules ride in a standard message</a:t>
            </a:r>
            <a:endParaRPr lang="en-US" sz="3200" dirty="0"/>
          </a:p>
        </p:txBody>
      </p:sp>
      <p:sp>
        <p:nvSpPr>
          <p:cNvPr id="3" name="Shape 1"/>
          <p:cNvSpPr/>
          <p:nvPr/>
        </p:nvSpPr>
        <p:spPr>
          <a:xfrm>
            <a:off x="812800" y="1744982"/>
            <a:ext cx="5588000" cy="3362960"/>
          </a:xfrm>
          <a:prstGeom prst="roundRect">
            <a:avLst>
              <a:gd name="adj" fmla="val 4532"/>
            </a:avLst>
          </a:prstGeom>
          <a:solidFill>
            <a:srgbClr val="0F1B3A"/>
          </a:solidFill>
          <a:ln/>
        </p:spPr>
      </p:sp>
      <p:sp>
        <p:nvSpPr>
          <p:cNvPr id="4" name="Text 2"/>
          <p:cNvSpPr/>
          <p:nvPr/>
        </p:nvSpPr>
        <p:spPr>
          <a:xfrm>
            <a:off x="1016000" y="1948182"/>
            <a:ext cx="53370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DE"/>
                </a:solidFill>
                <a:latin typeface="DM Sans" pitchFamily="34" charset="0"/>
                <a:ea typeface="DM Sans" pitchFamily="34" charset="-122"/>
                <a:cs typeface="DM Sans" pitchFamily="34" charset="-120"/>
              </a:rPr>
              <a:t>pacs.008 credit transfer, excerpt (illustrative)</a:t>
            </a:r>
            <a:endParaRPr lang="en-US" sz="1200" dirty="0"/>
          </a:p>
        </p:txBody>
      </p:sp>
      <p:sp>
        <p:nvSpPr>
          <p:cNvPr id="5" name="Text 3"/>
          <p:cNvSpPr/>
          <p:nvPr/>
        </p:nvSpPr>
        <p:spPr>
          <a:xfrm>
            <a:off x="1016000" y="2237739"/>
            <a:ext cx="533704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5DDF0"/>
                </a:solidFill>
                <a:latin typeface="JetBrains Mono" pitchFamily="49" charset="0"/>
                <a:ea typeface="JetBrains Mono" pitchFamily="49" charset="-122"/>
                <a:cs typeface="JetBrains Mono" pitchFamily="49" charset="-120"/>
              </a:rPr>
              <a:t>&lt;CdtTrfTxInf&gt;</a:t>
            </a:r>
            <a:endParaRPr lang="en-US" sz="1200" dirty="0"/>
          </a:p>
        </p:txBody>
      </p:sp>
      <p:sp>
        <p:nvSpPr>
          <p:cNvPr id="6" name="Text 4"/>
          <p:cNvSpPr/>
          <p:nvPr/>
        </p:nvSpPr>
        <p:spPr>
          <a:xfrm>
            <a:off x="1193800" y="2542539"/>
            <a:ext cx="515391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5DDF0"/>
                </a:solidFill>
                <a:latin typeface="JetBrains Mono" pitchFamily="49" charset="0"/>
                <a:ea typeface="JetBrains Mono" pitchFamily="49" charset="-122"/>
                <a:cs typeface="JetBrains Mono" pitchFamily="49" charset="-120"/>
              </a:rPr>
              <a:t>&lt;EndToEndId&gt;PURPOSEPAY-2026-98765&lt;/EndToEndId&gt;</a:t>
            </a:r>
            <a:endParaRPr lang="en-US" sz="1200" dirty="0"/>
          </a:p>
        </p:txBody>
      </p:sp>
      <p:sp>
        <p:nvSpPr>
          <p:cNvPr id="7" name="Text 5"/>
          <p:cNvSpPr/>
          <p:nvPr/>
        </p:nvSpPr>
        <p:spPr>
          <a:xfrm>
            <a:off x="1193800" y="2847339"/>
            <a:ext cx="515391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5DDF0"/>
                </a:solidFill>
                <a:latin typeface="JetBrains Mono" pitchFamily="49" charset="0"/>
                <a:ea typeface="JetBrains Mono" pitchFamily="49" charset="-122"/>
                <a:cs typeface="JetBrains Mono" pitchFamily="49" charset="-120"/>
              </a:rPr>
              <a:t>&lt;IntrBkSttlmAmt Ccy="USD"&gt;</a:t>
            </a:r>
            <a:r>
              <a:rPr lang="en-US" sz="1200" dirty="0">
                <a:solidFill>
                  <a:srgbClr val="F2A04A"/>
                </a:solidFill>
                <a:latin typeface="JetBrains Mono" pitchFamily="49" charset="0"/>
                <a:ea typeface="JetBrains Mono" pitchFamily="49" charset="-122"/>
                <a:cs typeface="JetBrains Mono" pitchFamily="49" charset="-120"/>
              </a:rPr>
              <a:t>1000.00</a:t>
            </a:r>
            <a:r>
              <a:rPr lang="en-US" sz="1200" dirty="0">
                <a:solidFill>
                  <a:srgbClr val="D5DDF0"/>
                </a:solidFill>
                <a:latin typeface="JetBrains Mono" pitchFamily="49" charset="0"/>
                <a:ea typeface="JetBrains Mono" pitchFamily="49" charset="-122"/>
                <a:cs typeface="JetBrains Mono" pitchFamily="49" charset="-120"/>
              </a:rPr>
              <a:t>&lt;/IntrBkSttlmAmt&gt;</a:t>
            </a:r>
            <a:endParaRPr lang="en-US" sz="1200" dirty="0"/>
          </a:p>
        </p:txBody>
      </p:sp>
      <p:sp>
        <p:nvSpPr>
          <p:cNvPr id="8" name="Text 6"/>
          <p:cNvSpPr/>
          <p:nvPr/>
        </p:nvSpPr>
        <p:spPr>
          <a:xfrm>
            <a:off x="1193800" y="3152139"/>
            <a:ext cx="515391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5DDF0"/>
                </a:solidFill>
                <a:latin typeface="JetBrains Mono" pitchFamily="49" charset="0"/>
                <a:ea typeface="JetBrains Mono" pitchFamily="49" charset="-122"/>
                <a:cs typeface="JetBrains Mono" pitchFamily="49" charset="-120"/>
              </a:rPr>
              <a:t>&lt;SplmtryData&gt;&lt;Envlp&gt;&lt;PurposeAllocation&gt;</a:t>
            </a:r>
            <a:endParaRPr lang="en-US" sz="1200" dirty="0"/>
          </a:p>
        </p:txBody>
      </p:sp>
      <p:sp>
        <p:nvSpPr>
          <p:cNvPr id="9" name="Text 7"/>
          <p:cNvSpPr/>
          <p:nvPr/>
        </p:nvSpPr>
        <p:spPr>
          <a:xfrm>
            <a:off x="1371600" y="3456939"/>
            <a:ext cx="497078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5DDF0"/>
                </a:solidFill>
                <a:latin typeface="JetBrains Mono" pitchFamily="49" charset="0"/>
                <a:ea typeface="JetBrains Mono" pitchFamily="49" charset="-122"/>
                <a:cs typeface="JetBrains Mono" pitchFamily="49" charset="-120"/>
              </a:rPr>
              <a:t>&lt;EducationPct&gt;</a:t>
            </a:r>
            <a:r>
              <a:rPr lang="en-US" sz="1200" dirty="0">
                <a:solidFill>
                  <a:srgbClr val="F2A04A"/>
                </a:solidFill>
                <a:latin typeface="JetBrains Mono" pitchFamily="49" charset="0"/>
                <a:ea typeface="JetBrains Mono" pitchFamily="49" charset="-122"/>
                <a:cs typeface="JetBrains Mono" pitchFamily="49" charset="-120"/>
              </a:rPr>
              <a:t>40.0</a:t>
            </a:r>
            <a:r>
              <a:rPr lang="en-US" sz="1200" dirty="0">
                <a:solidFill>
                  <a:srgbClr val="D5DDF0"/>
                </a:solidFill>
                <a:latin typeface="JetBrains Mono" pitchFamily="49" charset="0"/>
                <a:ea typeface="JetBrains Mono" pitchFamily="49" charset="-122"/>
                <a:cs typeface="JetBrains Mono" pitchFamily="49" charset="-120"/>
              </a:rPr>
              <a:t>&lt;/EducationPct&gt;</a:t>
            </a:r>
            <a:endParaRPr lang="en-US" sz="1200" dirty="0"/>
          </a:p>
        </p:txBody>
      </p:sp>
      <p:sp>
        <p:nvSpPr>
          <p:cNvPr id="10" name="Text 8"/>
          <p:cNvSpPr/>
          <p:nvPr/>
        </p:nvSpPr>
        <p:spPr>
          <a:xfrm>
            <a:off x="1371600" y="3761739"/>
            <a:ext cx="497078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5DDF0"/>
                </a:solidFill>
                <a:latin typeface="JetBrains Mono" pitchFamily="49" charset="0"/>
                <a:ea typeface="JetBrains Mono" pitchFamily="49" charset="-122"/>
                <a:cs typeface="JetBrains Mono" pitchFamily="49" charset="-120"/>
              </a:rPr>
              <a:t>&lt;HealthcarePct&gt;</a:t>
            </a:r>
            <a:r>
              <a:rPr lang="en-US" sz="1200" dirty="0">
                <a:solidFill>
                  <a:srgbClr val="F2A04A"/>
                </a:solidFill>
                <a:latin typeface="JetBrains Mono" pitchFamily="49" charset="0"/>
                <a:ea typeface="JetBrains Mono" pitchFamily="49" charset="-122"/>
                <a:cs typeface="JetBrains Mono" pitchFamily="49" charset="-120"/>
              </a:rPr>
              <a:t>40.0</a:t>
            </a:r>
            <a:r>
              <a:rPr lang="en-US" sz="1200" dirty="0">
                <a:solidFill>
                  <a:srgbClr val="D5DDF0"/>
                </a:solidFill>
                <a:latin typeface="JetBrains Mono" pitchFamily="49" charset="0"/>
                <a:ea typeface="JetBrains Mono" pitchFamily="49" charset="-122"/>
                <a:cs typeface="JetBrains Mono" pitchFamily="49" charset="-120"/>
              </a:rPr>
              <a:t>&lt;/HealthcarePct&gt;</a:t>
            </a:r>
            <a:endParaRPr lang="en-US" sz="1200" dirty="0"/>
          </a:p>
        </p:txBody>
      </p:sp>
      <p:sp>
        <p:nvSpPr>
          <p:cNvPr id="11" name="Text 9"/>
          <p:cNvSpPr/>
          <p:nvPr/>
        </p:nvSpPr>
        <p:spPr>
          <a:xfrm>
            <a:off x="1371600" y="4066542"/>
            <a:ext cx="497078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5DDF0"/>
                </a:solidFill>
                <a:latin typeface="JetBrains Mono" pitchFamily="49" charset="0"/>
                <a:ea typeface="JetBrains Mono" pitchFamily="49" charset="-122"/>
                <a:cs typeface="JetBrains Mono" pitchFamily="49" charset="-120"/>
              </a:rPr>
              <a:t>&lt;GeneralPct&gt;</a:t>
            </a:r>
            <a:r>
              <a:rPr lang="en-US" sz="1200" dirty="0">
                <a:solidFill>
                  <a:srgbClr val="F2A04A"/>
                </a:solidFill>
                <a:latin typeface="JetBrains Mono" pitchFamily="49" charset="0"/>
                <a:ea typeface="JetBrains Mono" pitchFamily="49" charset="-122"/>
                <a:cs typeface="JetBrains Mono" pitchFamily="49" charset="-120"/>
              </a:rPr>
              <a:t>20.0</a:t>
            </a:r>
            <a:r>
              <a:rPr lang="en-US" sz="1200" dirty="0">
                <a:solidFill>
                  <a:srgbClr val="D5DDF0"/>
                </a:solidFill>
                <a:latin typeface="JetBrains Mono" pitchFamily="49" charset="0"/>
                <a:ea typeface="JetBrains Mono" pitchFamily="49" charset="-122"/>
                <a:cs typeface="JetBrains Mono" pitchFamily="49" charset="-120"/>
              </a:rPr>
              <a:t>&lt;/GeneralPct&gt;</a:t>
            </a:r>
            <a:endParaRPr lang="en-US" sz="1200" dirty="0"/>
          </a:p>
        </p:txBody>
      </p:sp>
      <p:sp>
        <p:nvSpPr>
          <p:cNvPr id="12" name="Text 10"/>
          <p:cNvSpPr/>
          <p:nvPr/>
        </p:nvSpPr>
        <p:spPr>
          <a:xfrm>
            <a:off x="1193800" y="4371342"/>
            <a:ext cx="515391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5DDF0"/>
                </a:solidFill>
                <a:latin typeface="JetBrains Mono" pitchFamily="49" charset="0"/>
                <a:ea typeface="JetBrains Mono" pitchFamily="49" charset="-122"/>
                <a:cs typeface="JetBrains Mono" pitchFamily="49" charset="-120"/>
              </a:rPr>
              <a:t>&lt;/PurposeAllocation&gt;&lt;/Envlp&gt;&lt;/SplmtryData&gt;</a:t>
            </a:r>
            <a:endParaRPr lang="en-US" sz="1200" dirty="0"/>
          </a:p>
        </p:txBody>
      </p:sp>
      <p:sp>
        <p:nvSpPr>
          <p:cNvPr id="13" name="Text 11"/>
          <p:cNvSpPr/>
          <p:nvPr/>
        </p:nvSpPr>
        <p:spPr>
          <a:xfrm>
            <a:off x="1016000" y="4676142"/>
            <a:ext cx="533704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5DDF0"/>
                </a:solidFill>
                <a:latin typeface="JetBrains Mono" pitchFamily="49" charset="0"/>
                <a:ea typeface="JetBrains Mono" pitchFamily="49" charset="-122"/>
                <a:cs typeface="JetBrains Mono" pitchFamily="49" charset="-120"/>
              </a:rPr>
              <a:t>&lt;/CdtTrfTxInf&gt;</a:t>
            </a:r>
            <a:endParaRPr lang="en-US" sz="1200" dirty="0"/>
          </a:p>
        </p:txBody>
      </p:sp>
      <p:sp>
        <p:nvSpPr>
          <p:cNvPr id="14" name="Text 12"/>
          <p:cNvSpPr/>
          <p:nvPr/>
        </p:nvSpPr>
        <p:spPr>
          <a:xfrm>
            <a:off x="6705600" y="1744982"/>
            <a:ext cx="481380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85A"/>
                </a:solidFill>
                <a:latin typeface="DM Sans" pitchFamily="34" charset="0"/>
                <a:ea typeface="DM Sans" pitchFamily="34" charset="-122"/>
                <a:cs typeface="DM Sans" pitchFamily="34" charset="-120"/>
              </a:rPr>
              <a:t>1 Sign</a:t>
            </a:r>
            <a:endParaRPr lang="en-US" sz="1600" dirty="0"/>
          </a:p>
        </p:txBody>
      </p:sp>
      <p:sp>
        <p:nvSpPr>
          <p:cNvPr id="15" name="Text 13"/>
          <p:cNvSpPr/>
          <p:nvPr/>
        </p:nvSpPr>
        <p:spPr>
          <a:xfrm>
            <a:off x="6705600" y="2026921"/>
            <a:ext cx="4813808"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DM Sans" pitchFamily="34" charset="0"/>
                <a:ea typeface="DM Sans" pitchFamily="34" charset="-122"/>
                <a:cs typeface="DM Sans" pitchFamily="34" charset="-120"/>
              </a:rPr>
              <a:t>The sender node signs the payload with an HSM key.</a:t>
            </a:r>
            <a:endParaRPr lang="en-US" sz="1400" dirty="0"/>
          </a:p>
        </p:txBody>
      </p:sp>
      <p:sp>
        <p:nvSpPr>
          <p:cNvPr id="16" name="Text 14"/>
          <p:cNvSpPr/>
          <p:nvPr/>
        </p:nvSpPr>
        <p:spPr>
          <a:xfrm>
            <a:off x="6705600" y="2611993"/>
            <a:ext cx="481380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85A"/>
                </a:solidFill>
                <a:latin typeface="DM Sans" pitchFamily="34" charset="0"/>
                <a:ea typeface="DM Sans" pitchFamily="34" charset="-122"/>
                <a:cs typeface="DM Sans" pitchFamily="34" charset="-120"/>
              </a:rPr>
              <a:t>2 Parse</a:t>
            </a:r>
            <a:endParaRPr lang="en-US" sz="1600" dirty="0"/>
          </a:p>
        </p:txBody>
      </p:sp>
      <p:sp>
        <p:nvSpPr>
          <p:cNvPr id="17" name="Text 15"/>
          <p:cNvSpPr/>
          <p:nvPr/>
        </p:nvSpPr>
        <p:spPr>
          <a:xfrm>
            <a:off x="6705600" y="2893935"/>
            <a:ext cx="4813808"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DM Sans" pitchFamily="34" charset="0"/>
                <a:ea typeface="DM Sans" pitchFamily="34" charset="-122"/>
                <a:cs typeface="DM Sans" pitchFamily="34" charset="-120"/>
              </a:rPr>
              <a:t>The gateway reads amount, identities and split rules.</a:t>
            </a:r>
            <a:endParaRPr lang="en-US" sz="1400" dirty="0"/>
          </a:p>
        </p:txBody>
      </p:sp>
      <p:sp>
        <p:nvSpPr>
          <p:cNvPr id="18" name="Text 16"/>
          <p:cNvSpPr/>
          <p:nvPr/>
        </p:nvSpPr>
        <p:spPr>
          <a:xfrm>
            <a:off x="6705600" y="3478929"/>
            <a:ext cx="481380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85A"/>
                </a:solidFill>
                <a:latin typeface="DM Sans" pitchFamily="34" charset="0"/>
                <a:ea typeface="DM Sans" pitchFamily="34" charset="-122"/>
                <a:cs typeface="DM Sans" pitchFamily="34" charset="-120"/>
              </a:rPr>
              <a:t>3 Invoke</a:t>
            </a:r>
            <a:endParaRPr lang="en-US" sz="1600" dirty="0"/>
          </a:p>
        </p:txBody>
      </p:sp>
      <p:sp>
        <p:nvSpPr>
          <p:cNvPr id="19" name="Text 17"/>
          <p:cNvSpPr/>
          <p:nvPr/>
        </p:nvSpPr>
        <p:spPr>
          <a:xfrm>
            <a:off x="6705600" y="3760868"/>
            <a:ext cx="4813808"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DM Sans" pitchFamily="34" charset="0"/>
                <a:ea typeface="DM Sans" pitchFamily="34" charset="-122"/>
                <a:cs typeface="DM Sans" pitchFamily="34" charset="-120"/>
              </a:rPr>
              <a:t>One smart contract call carries the amount and the split.</a:t>
            </a:r>
            <a:endParaRPr lang="en-US" sz="1400" dirty="0"/>
          </a:p>
        </p:txBody>
      </p:sp>
      <p:sp>
        <p:nvSpPr>
          <p:cNvPr id="20" name="Text 18"/>
          <p:cNvSpPr/>
          <p:nvPr/>
        </p:nvSpPr>
        <p:spPr>
          <a:xfrm>
            <a:off x="6705600" y="4585971"/>
            <a:ext cx="481380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85A"/>
                </a:solidFill>
                <a:latin typeface="DM Sans" pitchFamily="34" charset="0"/>
                <a:ea typeface="DM Sans" pitchFamily="34" charset="-122"/>
                <a:cs typeface="DM Sans" pitchFamily="34" charset="-120"/>
              </a:rPr>
              <a:t>4 Confirm</a:t>
            </a:r>
            <a:endParaRPr lang="en-US" sz="1600" dirty="0"/>
          </a:p>
        </p:txBody>
      </p:sp>
      <p:sp>
        <p:nvSpPr>
          <p:cNvPr id="21" name="Text 19"/>
          <p:cNvSpPr/>
          <p:nvPr/>
        </p:nvSpPr>
        <p:spPr>
          <a:xfrm>
            <a:off x="6705600" y="4867914"/>
            <a:ext cx="4813808"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DM Sans" pitchFamily="34" charset="0"/>
                <a:ea typeface="DM Sans" pitchFamily="34" charset="-122"/>
                <a:cs typeface="DM Sans" pitchFamily="34" charset="-120"/>
              </a:rPr>
              <a:t>A pacs.002 status of ACCC returns to the sender app.</a:t>
            </a:r>
            <a:endParaRPr lang="en-US" sz="1400" dirty="0"/>
          </a:p>
        </p:txBody>
      </p:sp>
      <p:sp>
        <p:nvSpPr>
          <p:cNvPr id="22" name="Text 20"/>
          <p:cNvSpPr/>
          <p:nvPr/>
        </p:nvSpPr>
        <p:spPr>
          <a:xfrm>
            <a:off x="812800" y="5593079"/>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Banks keep their core systems. Only the supplementary data envelope is PurposePay-specific.</a:t>
            </a:r>
            <a:endParaRPr lang="en-US" sz="1400" dirty="0"/>
          </a:p>
        </p:txBody>
      </p:sp>
      <p:sp>
        <p:nvSpPr>
          <p:cNvPr id="23" name="Text 21"/>
          <p:cNvSpPr/>
          <p:nvPr/>
        </p:nvSpPr>
        <p:spPr>
          <a:xfrm>
            <a:off x="812800" y="6238242"/>
            <a:ext cx="44028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PurposePay · Digital Rupee Cross-Border Hackathon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3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E"/>
                </a:solidFill>
                <a:latin typeface="DM Sans" pitchFamily="34" charset="0"/>
                <a:ea typeface="DM Sans" pitchFamily="34" charset="-122"/>
                <a:cs typeface="DM Sans" pitchFamily="34" charset="-120"/>
              </a:rPr>
              <a:t>The merchant category code is the gate</a:t>
            </a:r>
            <a:endParaRPr lang="en-US" sz="3200" dirty="0"/>
          </a:p>
        </p:txBody>
      </p:sp>
      <p:sp>
        <p:nvSpPr>
          <p:cNvPr id="3" name="Shape 1"/>
          <p:cNvSpPr/>
          <p:nvPr/>
        </p:nvSpPr>
        <p:spPr>
          <a:xfrm>
            <a:off x="815975" y="1754826"/>
            <a:ext cx="4819650" cy="1099820"/>
          </a:xfrm>
          <a:prstGeom prst="roundRect">
            <a:avLst>
              <a:gd name="adj" fmla="val 11259"/>
            </a:avLst>
          </a:prstGeom>
          <a:solidFill>
            <a:srgbClr val="1A2B57"/>
          </a:solidFill>
          <a:ln w="6350">
            <a:solidFill>
              <a:srgbClr val="34509A"/>
            </a:solidFill>
            <a:prstDash val="solid"/>
          </a:ln>
        </p:spPr>
      </p:sp>
      <p:sp>
        <p:nvSpPr>
          <p:cNvPr id="4" name="Text 2"/>
          <p:cNvSpPr/>
          <p:nvPr/>
        </p:nvSpPr>
        <p:spPr>
          <a:xfrm>
            <a:off x="1021080" y="1934530"/>
            <a:ext cx="45417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04A"/>
                </a:solidFill>
                <a:latin typeface="DM Sans" pitchFamily="34" charset="0"/>
                <a:ea typeface="DM Sans" pitchFamily="34" charset="-122"/>
                <a:cs typeface="DM Sans" pitchFamily="34" charset="-120"/>
              </a:rPr>
              <a:t>Healthcare bucket</a:t>
            </a:r>
            <a:endParaRPr lang="en-US" sz="1600" dirty="0"/>
          </a:p>
        </p:txBody>
      </p:sp>
      <p:sp>
        <p:nvSpPr>
          <p:cNvPr id="5" name="Text 3"/>
          <p:cNvSpPr/>
          <p:nvPr/>
        </p:nvSpPr>
        <p:spPr>
          <a:xfrm>
            <a:off x="1021080" y="2229166"/>
            <a:ext cx="454172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5DDF0"/>
                </a:solidFill>
                <a:latin typeface="DM Sans" pitchFamily="34" charset="0"/>
                <a:ea typeface="DM Sans" pitchFamily="34" charset="-122"/>
                <a:cs typeface="DM Sans" pitchFamily="34" charset="-120"/>
              </a:rPr>
              <a:t>8062 hospitals, 8011 doctors, 8021 dentists, 5912 pharmacies</a:t>
            </a:r>
            <a:endParaRPr lang="en-US" sz="1300" dirty="0"/>
          </a:p>
        </p:txBody>
      </p:sp>
      <p:sp>
        <p:nvSpPr>
          <p:cNvPr id="6" name="Shape 4"/>
          <p:cNvSpPr/>
          <p:nvPr/>
        </p:nvSpPr>
        <p:spPr>
          <a:xfrm>
            <a:off x="815975" y="2987991"/>
            <a:ext cx="4819650" cy="1099820"/>
          </a:xfrm>
          <a:prstGeom prst="roundRect">
            <a:avLst>
              <a:gd name="adj" fmla="val 11259"/>
            </a:avLst>
          </a:prstGeom>
          <a:solidFill>
            <a:srgbClr val="1A2B57"/>
          </a:solidFill>
          <a:ln w="6350">
            <a:solidFill>
              <a:srgbClr val="34509A"/>
            </a:solidFill>
            <a:prstDash val="solid"/>
          </a:ln>
        </p:spPr>
      </p:sp>
      <p:sp>
        <p:nvSpPr>
          <p:cNvPr id="7" name="Text 5"/>
          <p:cNvSpPr/>
          <p:nvPr/>
        </p:nvSpPr>
        <p:spPr>
          <a:xfrm>
            <a:off x="1021080" y="3167701"/>
            <a:ext cx="45417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04A"/>
                </a:solidFill>
                <a:latin typeface="DM Sans" pitchFamily="34" charset="0"/>
                <a:ea typeface="DM Sans" pitchFamily="34" charset="-122"/>
                <a:cs typeface="DM Sans" pitchFamily="34" charset="-120"/>
              </a:rPr>
              <a:t>Education bucket</a:t>
            </a:r>
            <a:endParaRPr lang="en-US" sz="1600" dirty="0"/>
          </a:p>
        </p:txBody>
      </p:sp>
      <p:sp>
        <p:nvSpPr>
          <p:cNvPr id="8" name="Text 6"/>
          <p:cNvSpPr/>
          <p:nvPr/>
        </p:nvSpPr>
        <p:spPr>
          <a:xfrm>
            <a:off x="1021080" y="3462338"/>
            <a:ext cx="454172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5DDF0"/>
                </a:solidFill>
                <a:latin typeface="DM Sans" pitchFamily="34" charset="0"/>
                <a:ea typeface="DM Sans" pitchFamily="34" charset="-122"/>
                <a:cs typeface="DM Sans" pitchFamily="34" charset="-120"/>
              </a:rPr>
              <a:t>8211 schools, 8220 colleges and universities, 8299 other educational services</a:t>
            </a:r>
            <a:endParaRPr lang="en-US" sz="1300" dirty="0"/>
          </a:p>
        </p:txBody>
      </p:sp>
      <p:sp>
        <p:nvSpPr>
          <p:cNvPr id="9" name="Shape 7"/>
          <p:cNvSpPr/>
          <p:nvPr/>
        </p:nvSpPr>
        <p:spPr>
          <a:xfrm>
            <a:off x="815975" y="4221163"/>
            <a:ext cx="4819650" cy="876935"/>
          </a:xfrm>
          <a:prstGeom prst="roundRect">
            <a:avLst>
              <a:gd name="adj" fmla="val 14120"/>
            </a:avLst>
          </a:prstGeom>
          <a:solidFill>
            <a:srgbClr val="1A2B57"/>
          </a:solidFill>
          <a:ln w="6350">
            <a:solidFill>
              <a:srgbClr val="34509A"/>
            </a:solidFill>
            <a:prstDash val="solid"/>
          </a:ln>
        </p:spPr>
      </p:sp>
      <p:sp>
        <p:nvSpPr>
          <p:cNvPr id="10" name="Text 8"/>
          <p:cNvSpPr/>
          <p:nvPr/>
        </p:nvSpPr>
        <p:spPr>
          <a:xfrm>
            <a:off x="1021080" y="4400866"/>
            <a:ext cx="45417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04A"/>
                </a:solidFill>
                <a:latin typeface="DM Sans" pitchFamily="34" charset="0"/>
                <a:ea typeface="DM Sans" pitchFamily="34" charset="-122"/>
                <a:cs typeface="DM Sans" pitchFamily="34" charset="-120"/>
              </a:rPr>
              <a:t>General bucket</a:t>
            </a:r>
            <a:endParaRPr lang="en-US" sz="1600" dirty="0"/>
          </a:p>
        </p:txBody>
      </p:sp>
      <p:sp>
        <p:nvSpPr>
          <p:cNvPr id="11" name="Text 9"/>
          <p:cNvSpPr/>
          <p:nvPr/>
        </p:nvSpPr>
        <p:spPr>
          <a:xfrm>
            <a:off x="1021080" y="4695509"/>
            <a:ext cx="4541723"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5DDF0"/>
                </a:solidFill>
                <a:latin typeface="DM Sans" pitchFamily="34" charset="0"/>
                <a:ea typeface="DM Sans" pitchFamily="34" charset="-122"/>
                <a:cs typeface="DM Sans" pitchFamily="34" charset="-120"/>
              </a:rPr>
              <a:t>Any category not on the regulator's prohibited list</a:t>
            </a:r>
            <a:endParaRPr lang="en-US" sz="1300" dirty="0"/>
          </a:p>
        </p:txBody>
      </p:sp>
      <p:sp>
        <p:nvSpPr>
          <p:cNvPr id="12" name="Shape 10"/>
          <p:cNvSpPr/>
          <p:nvPr/>
        </p:nvSpPr>
        <p:spPr>
          <a:xfrm>
            <a:off x="5949950" y="1758001"/>
            <a:ext cx="5422900" cy="1598613"/>
          </a:xfrm>
          <a:prstGeom prst="roundRect">
            <a:avLst>
              <a:gd name="adj" fmla="val 7547"/>
            </a:avLst>
          </a:prstGeom>
          <a:solidFill>
            <a:srgbClr val="12372F"/>
          </a:solidFill>
          <a:ln w="12700">
            <a:solidFill>
              <a:srgbClr val="3CB48A"/>
            </a:solidFill>
            <a:prstDash val="solid"/>
          </a:ln>
        </p:spPr>
      </p:sp>
      <p:pic>
        <p:nvPicPr>
          <p:cNvPr id="13" name="Image 0" descr="CheckCircle">    </p:cNvPr>
          <p:cNvPicPr>
            <a:picLocks noChangeAspect="1"/>
          </p:cNvPicPr>
          <p:nvPr/>
        </p:nvPicPr>
        <p:blipFill>
          <a:blip r:embed="rId1"/>
          <a:srcRect l="0" r="0" t="0" b="0"/>
          <a:stretch/>
        </p:blipFill>
        <p:spPr>
          <a:xfrm>
            <a:off x="6156960" y="2354107"/>
            <a:ext cx="406400" cy="406400"/>
          </a:xfrm>
          <a:prstGeom prst="rect">
            <a:avLst/>
          </a:prstGeom>
        </p:spPr>
      </p:pic>
      <p:sp>
        <p:nvSpPr>
          <p:cNvPr id="14" name="Text 11"/>
          <p:cNvSpPr/>
          <p:nvPr/>
        </p:nvSpPr>
        <p:spPr>
          <a:xfrm>
            <a:off x="6715760" y="2193448"/>
            <a:ext cx="458358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FD8B4"/>
                </a:solidFill>
                <a:latin typeface="DM Sans" pitchFamily="34" charset="0"/>
                <a:ea typeface="DM Sans" pitchFamily="34" charset="-122"/>
                <a:cs typeface="DM Sans" pitchFamily="34" charset="-120"/>
              </a:rPr>
              <a:t>Approved</a:t>
            </a:r>
            <a:endParaRPr lang="en-US" sz="1600" dirty="0"/>
          </a:p>
        </p:txBody>
      </p:sp>
      <p:sp>
        <p:nvSpPr>
          <p:cNvPr id="15" name="Text 12"/>
          <p:cNvSpPr/>
          <p:nvPr/>
        </p:nvSpPr>
        <p:spPr>
          <a:xfrm>
            <a:off x="6715760" y="2475390"/>
            <a:ext cx="458358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6F4EE"/>
                </a:solidFill>
                <a:latin typeface="DM Sans" pitchFamily="34" charset="0"/>
                <a:ea typeface="DM Sans" pitchFamily="34" charset="-122"/>
                <a:cs typeface="DM Sans" pitchFamily="34" charset="-120"/>
              </a:rPr>
              <a:t>Apollo Hospital QR, MCC 8062, paid from the Healthcare bucket</a:t>
            </a:r>
            <a:endParaRPr lang="en-US" sz="1300" dirty="0"/>
          </a:p>
        </p:txBody>
      </p:sp>
      <p:sp>
        <p:nvSpPr>
          <p:cNvPr id="16" name="Shape 13"/>
          <p:cNvSpPr/>
          <p:nvPr/>
        </p:nvSpPr>
        <p:spPr>
          <a:xfrm>
            <a:off x="5949950" y="3496314"/>
            <a:ext cx="5422900" cy="1598613"/>
          </a:xfrm>
          <a:prstGeom prst="roundRect">
            <a:avLst>
              <a:gd name="adj" fmla="val 7547"/>
            </a:avLst>
          </a:prstGeom>
          <a:solidFill>
            <a:srgbClr val="3B1B22"/>
          </a:solidFill>
          <a:ln w="12700">
            <a:solidFill>
              <a:srgbClr val="E5675C"/>
            </a:solidFill>
            <a:prstDash val="solid"/>
          </a:ln>
        </p:spPr>
      </p:sp>
      <p:pic>
        <p:nvPicPr>
          <p:cNvPr id="17" name="Image 1" descr="Warning">    </p:cNvPr>
          <p:cNvPicPr>
            <a:picLocks noChangeAspect="1"/>
          </p:cNvPicPr>
          <p:nvPr/>
        </p:nvPicPr>
        <p:blipFill>
          <a:blip r:embed="rId2"/>
          <a:srcRect l="0" r="0" t="0" b="0"/>
          <a:stretch/>
        </p:blipFill>
        <p:spPr>
          <a:xfrm>
            <a:off x="6156960" y="4092420"/>
            <a:ext cx="406400" cy="406400"/>
          </a:xfrm>
          <a:prstGeom prst="rect">
            <a:avLst/>
          </a:prstGeom>
        </p:spPr>
      </p:pic>
      <p:sp>
        <p:nvSpPr>
          <p:cNvPr id="18" name="Text 14"/>
          <p:cNvSpPr/>
          <p:nvPr/>
        </p:nvSpPr>
        <p:spPr>
          <a:xfrm>
            <a:off x="6715760" y="3931760"/>
            <a:ext cx="458358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9A90"/>
                </a:solidFill>
                <a:latin typeface="DM Sans" pitchFamily="34" charset="0"/>
                <a:ea typeface="DM Sans" pitchFamily="34" charset="-122"/>
                <a:cs typeface="DM Sans" pitchFamily="34" charset="-120"/>
              </a:rPr>
              <a:t>Blocked</a:t>
            </a:r>
            <a:endParaRPr lang="en-US" sz="1600" dirty="0"/>
          </a:p>
        </p:txBody>
      </p:sp>
      <p:sp>
        <p:nvSpPr>
          <p:cNvPr id="19" name="Text 15"/>
          <p:cNvSpPr/>
          <p:nvPr/>
        </p:nvSpPr>
        <p:spPr>
          <a:xfrm>
            <a:off x="6715760" y="4213702"/>
            <a:ext cx="458358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6F4EE"/>
                </a:solidFill>
                <a:latin typeface="DM Sans" pitchFamily="34" charset="0"/>
                <a:ea typeface="DM Sans" pitchFamily="34" charset="-122"/>
                <a:cs typeface="DM Sans" pitchFamily="34" charset="-120"/>
              </a:rPr>
              <a:t>Liquor store QR, MCC 5921, Healthcare tokens: Purpose-Bound Token Mismatch</a:t>
            </a:r>
            <a:endParaRPr lang="en-US" sz="1300" dirty="0"/>
          </a:p>
        </p:txBody>
      </p:sp>
      <p:sp>
        <p:nvSpPr>
          <p:cNvPr id="20" name="Text 16"/>
          <p:cNvSpPr/>
          <p:nvPr/>
        </p:nvSpPr>
        <p:spPr>
          <a:xfrm>
            <a:off x="812800" y="5593079"/>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DE"/>
                </a:solidFill>
                <a:latin typeface="DM Sans" pitchFamily="34" charset="0"/>
                <a:ea typeface="DM Sans" pitchFamily="34" charset="-122"/>
                <a:cs typeface="DM Sans" pitchFamily="34" charset="-120"/>
              </a:rPr>
              <a:t>In production the contract also checks the registered terminal ID, so a hospital cafeteria cannot spend Healthcare tokens.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Private, signed and screened</a:t>
            </a:r>
            <a:endParaRPr lang="en-US" sz="3200" dirty="0"/>
          </a:p>
        </p:txBody>
      </p:sp>
      <p:sp>
        <p:nvSpPr>
          <p:cNvPr id="3" name="Shape 1"/>
          <p:cNvSpPr/>
          <p:nvPr/>
        </p:nvSpPr>
        <p:spPr>
          <a:xfrm>
            <a:off x="815975" y="1867539"/>
            <a:ext cx="3380264" cy="2360930"/>
          </a:xfrm>
          <a:prstGeom prst="roundRect">
            <a:avLst>
              <a:gd name="adj" fmla="val 6321"/>
            </a:avLst>
          </a:prstGeom>
          <a:solidFill>
            <a:srgbClr val="FFFDF8"/>
          </a:solidFill>
          <a:ln w="6350">
            <a:solidFill>
              <a:srgbClr val="E3DFD3"/>
            </a:solidFill>
            <a:prstDash val="solid"/>
          </a:ln>
        </p:spPr>
      </p:sp>
      <p:pic>
        <p:nvPicPr>
          <p:cNvPr id="4" name="Image 0" descr="Verified">    </p:cNvPr>
          <p:cNvPicPr>
            <a:picLocks noChangeAspect="1"/>
          </p:cNvPicPr>
          <p:nvPr/>
        </p:nvPicPr>
        <p:blipFill>
          <a:blip r:embed="rId1"/>
          <a:srcRect l="0" r="0" t="0" b="0"/>
          <a:stretch/>
        </p:blipFill>
        <p:spPr>
          <a:xfrm>
            <a:off x="1071880" y="2123442"/>
            <a:ext cx="355600" cy="355600"/>
          </a:xfrm>
          <a:prstGeom prst="rect">
            <a:avLst/>
          </a:prstGeom>
        </p:spPr>
      </p:pic>
      <p:sp>
        <p:nvSpPr>
          <p:cNvPr id="5" name="Text 2"/>
          <p:cNvSpPr/>
          <p:nvPr/>
        </p:nvSpPr>
        <p:spPr>
          <a:xfrm>
            <a:off x="1071880" y="2606042"/>
            <a:ext cx="295450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Zero-knowledge limits</a:t>
            </a:r>
            <a:endParaRPr lang="en-US" sz="1600" dirty="0"/>
          </a:p>
        </p:txBody>
      </p:sp>
      <p:sp>
        <p:nvSpPr>
          <p:cNvPr id="6" name="Text 3"/>
          <p:cNvSpPr/>
          <p:nvPr/>
        </p:nvSpPr>
        <p:spPr>
          <a:xfrm>
            <a:off x="1071880" y="2976879"/>
            <a:ext cx="2954507"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The sender proves transfers stay under the annual cap without revealing balances. Caps are policy parameters per corridor.</a:t>
            </a:r>
            <a:endParaRPr lang="en-US" sz="1400" dirty="0"/>
          </a:p>
        </p:txBody>
      </p:sp>
      <p:sp>
        <p:nvSpPr>
          <p:cNvPr id="7" name="Shape 4"/>
          <p:cNvSpPr/>
          <p:nvPr/>
        </p:nvSpPr>
        <p:spPr>
          <a:xfrm>
            <a:off x="4405789" y="1867539"/>
            <a:ext cx="3380343" cy="2360930"/>
          </a:xfrm>
          <a:prstGeom prst="roundRect">
            <a:avLst>
              <a:gd name="adj" fmla="val 6321"/>
            </a:avLst>
          </a:prstGeom>
          <a:solidFill>
            <a:srgbClr val="FFFDF8"/>
          </a:solidFill>
          <a:ln w="6350">
            <a:solidFill>
              <a:srgbClr val="E3DFD3"/>
            </a:solidFill>
            <a:prstDash val="solid"/>
          </a:ln>
        </p:spPr>
      </p:sp>
      <p:pic>
        <p:nvPicPr>
          <p:cNvPr id="8" name="Image 1" descr="Key">    </p:cNvPr>
          <p:cNvPicPr>
            <a:picLocks noChangeAspect="1"/>
          </p:cNvPicPr>
          <p:nvPr/>
        </p:nvPicPr>
        <p:blipFill>
          <a:blip r:embed="rId2"/>
          <a:srcRect l="0" r="0" t="0" b="0"/>
          <a:stretch/>
        </p:blipFill>
        <p:spPr>
          <a:xfrm>
            <a:off x="4661694" y="2123442"/>
            <a:ext cx="355600" cy="355600"/>
          </a:xfrm>
          <a:prstGeom prst="rect">
            <a:avLst/>
          </a:prstGeom>
        </p:spPr>
      </p:pic>
      <p:sp>
        <p:nvSpPr>
          <p:cNvPr id="9" name="Text 5"/>
          <p:cNvSpPr/>
          <p:nvPr/>
        </p:nvSpPr>
        <p:spPr>
          <a:xfrm>
            <a:off x="4661694" y="2606042"/>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HSM key custody</a:t>
            </a:r>
            <a:endParaRPr lang="en-US" sz="1600" dirty="0"/>
          </a:p>
        </p:txBody>
      </p:sp>
      <p:sp>
        <p:nvSpPr>
          <p:cNvPr id="10" name="Text 6"/>
          <p:cNvSpPr/>
          <p:nvPr/>
        </p:nvSpPr>
        <p:spPr>
          <a:xfrm>
            <a:off x="4661694" y="2976879"/>
            <a:ext cx="2954589"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Minting and settlement keys sit in FIPS 140-2 Level 3 hardware security modules and never leave them.</a:t>
            </a:r>
            <a:endParaRPr lang="en-US" sz="1400" dirty="0"/>
          </a:p>
        </p:txBody>
      </p:sp>
      <p:sp>
        <p:nvSpPr>
          <p:cNvPr id="11" name="Shape 7"/>
          <p:cNvSpPr/>
          <p:nvPr/>
        </p:nvSpPr>
        <p:spPr>
          <a:xfrm>
            <a:off x="7995682" y="1867539"/>
            <a:ext cx="3380343" cy="2360930"/>
          </a:xfrm>
          <a:prstGeom prst="roundRect">
            <a:avLst>
              <a:gd name="adj" fmla="val 6321"/>
            </a:avLst>
          </a:prstGeom>
          <a:solidFill>
            <a:srgbClr val="FFFDF8"/>
          </a:solidFill>
          <a:ln w="6350">
            <a:solidFill>
              <a:srgbClr val="E3DFD3"/>
            </a:solidFill>
            <a:prstDash val="solid"/>
          </a:ln>
        </p:spPr>
      </p:sp>
      <p:pic>
        <p:nvPicPr>
          <p:cNvPr id="12" name="Image 2" descr="Search">    </p:cNvPr>
          <p:cNvPicPr>
            <a:picLocks noChangeAspect="1"/>
          </p:cNvPicPr>
          <p:nvPr/>
        </p:nvPicPr>
        <p:blipFill>
          <a:blip r:embed="rId3"/>
          <a:srcRect l="0" r="0" t="0" b="0"/>
          <a:stretch/>
        </p:blipFill>
        <p:spPr>
          <a:xfrm>
            <a:off x="8251587" y="2123442"/>
            <a:ext cx="355600" cy="355600"/>
          </a:xfrm>
          <a:prstGeom prst="rect">
            <a:avLst/>
          </a:prstGeom>
        </p:spPr>
      </p:pic>
      <p:sp>
        <p:nvSpPr>
          <p:cNvPr id="13" name="Text 8"/>
          <p:cNvSpPr/>
          <p:nvPr/>
        </p:nvSpPr>
        <p:spPr>
          <a:xfrm>
            <a:off x="8251587" y="2606042"/>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Sanctions screening</a:t>
            </a:r>
            <a:endParaRPr lang="en-US" sz="1600" dirty="0"/>
          </a:p>
        </p:txBody>
      </p:sp>
      <p:sp>
        <p:nvSpPr>
          <p:cNvPr id="14" name="Text 9"/>
          <p:cNvSpPr/>
          <p:nvPr/>
        </p:nvSpPr>
        <p:spPr>
          <a:xfrm>
            <a:off x="8251587" y="2976879"/>
            <a:ext cx="295458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Sender and receiver are screened against sanctions lists before any token is minted.</a:t>
            </a:r>
            <a:endParaRPr lang="en-US" sz="1400" dirty="0"/>
          </a:p>
        </p:txBody>
      </p:sp>
      <p:sp>
        <p:nvSpPr>
          <p:cNvPr id="15" name="Text 10"/>
          <p:cNvSpPr/>
          <p:nvPr/>
        </p:nvSpPr>
        <p:spPr>
          <a:xfrm>
            <a:off x="812800" y="4836164"/>
            <a:ext cx="10566400" cy="1005840"/>
          </a:xfrm>
          <a:prstGeom prst="roundRect">
            <a:avLst>
              <a:gd name="adj" fmla="val 15152"/>
            </a:avLst>
          </a:prstGeom>
          <a:solidFill>
            <a:srgbClr val="0F1B3A"/>
          </a:solidFill>
          <a:ln/>
        </p:spPr>
        <p:txBody>
          <a:bodyPr wrap="square" lIns="260164" tIns="183964" rIns="0" bIns="158564" rtlCol="0" anchor="t">
            <a:normAutofit/>
          </a:bodyPr>
          <a:lstStyle/>
          <a:p>
            <a:pPr algn="l" indent="0" marL="0">
              <a:lnSpc>
                <a:spcPts val="2160"/>
              </a:lnSpc>
              <a:buNone/>
            </a:pPr>
            <a:r>
              <a:rPr lang="en-US" sz="1600" dirty="0">
                <a:solidFill>
                  <a:srgbClr val="F6F4EE"/>
                </a:solidFill>
                <a:latin typeface="DM Sans" pitchFamily="34" charset="0"/>
                <a:ea typeface="DM Sans" pitchFamily="34" charset="-122"/>
                <a:cs typeface="DM Sans" pitchFamily="34" charset="-120"/>
              </a:rPr>
              <a:t>A zero-knowledge proof works like an "over 21" badge at the door: the bouncer learns you may enter, not your address or birth date.</a:t>
            </a:r>
            <a:endParaRPr lang="en-US" sz="1600" dirty="0"/>
          </a:p>
        </p:txBody>
      </p:sp>
      <p:sp>
        <p:nvSpPr>
          <p:cNvPr id="16" name="Text 11"/>
          <p:cNvSpPr/>
          <p:nvPr/>
        </p:nvSpPr>
        <p:spPr>
          <a:xfrm>
            <a:off x="812800" y="6238242"/>
            <a:ext cx="44028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PurposePay · Digital Rupee Cross-Border Hackathon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From proof of concept to production</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2089152"/>
          <a:ext cx="10556240" cy="2684780"/>
        </p:xfrm>
        <a:graphic>
          <a:graphicData uri="http://schemas.openxmlformats.org/drawingml/2006/table">
            <a:tbl>
              <a:tblPr/>
              <a:tblGrid>
                <a:gridCol w="2111248"/>
                <a:gridCol w="3589122"/>
                <a:gridCol w="4855870"/>
              </a:tblGrid>
              <a:tr h="383540">
                <a:tc>
                  <a:txBody>
                    <a:bodyPr/>
                    <a:lstStyle/>
                    <a:p>
                      <a:pPr indent="0" marL="0">
                        <a:lnSpc>
                          <a:spcPts val="1960"/>
                        </a:lnSpc>
                        <a:buNone/>
                      </a:pPr>
                      <a:r>
                        <a:rPr lang="en-US" sz="1400" b="1" dirty="0">
                          <a:solidFill>
                            <a:srgbClr val="4A5568"/>
                          </a:solidFill>
                          <a:latin typeface="DM Sans" pitchFamily="34" charset="0"/>
                          <a:ea typeface="DM Sans" pitchFamily="34" charset="-122"/>
                          <a:cs typeface="DM Sans" pitchFamily="34" charset="-120"/>
                        </a:rPr>
                        <a:t>Component</a:t>
                      </a:r>
                      <a:endParaRPr lang="en-US" sz="1400" dirty="0">
                        <a:latin typeface="DM Sans" charset="0"/>
                        <a:ea typeface="DM Sans" charset="0"/>
                        <a:cs typeface="DM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960"/>
                        </a:lnSpc>
                        <a:buNone/>
                      </a:pPr>
                      <a:r>
                        <a:rPr lang="en-US" sz="1400" b="1" dirty="0">
                          <a:solidFill>
                            <a:srgbClr val="4A5568"/>
                          </a:solidFill>
                          <a:latin typeface="DM Sans" pitchFamily="34" charset="0"/>
                          <a:ea typeface="DM Sans" pitchFamily="34" charset="-122"/>
                          <a:cs typeface="DM Sans" pitchFamily="34" charset="-120"/>
                        </a:rPr>
                        <a:t>Hackathon PoC</a:t>
                      </a:r>
                      <a:endParaRPr lang="en-US" sz="1400" dirty="0">
                        <a:latin typeface="DM Sans" charset="0"/>
                        <a:ea typeface="DM Sans" charset="0"/>
                        <a:cs typeface="DM Sans" charset="0"/>
                      </a:endParaRPr>
                    </a:p>
                  </a:txBody>
                  <a:tcPr marL="62230" marR="62230" marT="62230" marB="6223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960"/>
                        </a:lnSpc>
                        <a:buNone/>
                      </a:pPr>
                      <a:r>
                        <a:rPr lang="en-US" sz="1400" b="1" dirty="0">
                          <a:solidFill>
                            <a:srgbClr val="17785A"/>
                          </a:solidFill>
                          <a:latin typeface="DM Sans" pitchFamily="34" charset="0"/>
                          <a:ea typeface="DM Sans" pitchFamily="34" charset="-122"/>
                          <a:cs typeface="DM Sans" pitchFamily="34" charset="-120"/>
                        </a:rPr>
                        <a:t>Production target</a:t>
                      </a:r>
                      <a:endParaRPr lang="en-US" sz="1400" dirty="0">
                        <a:latin typeface="DM Sans" charset="0"/>
                        <a:ea typeface="DM Sans" charset="0"/>
                        <a:cs typeface="DM Sans" charset="0"/>
                      </a:endParaRPr>
                    </a:p>
                  </a:txBody>
                  <a:tcPr marL="62230" marR="62230" marT="62230" marB="6223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r>
              <a:tr h="383540">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Ledger</a:t>
                      </a:r>
                      <a:endParaRPr lang="en-US" sz="1400" dirty="0">
                        <a:latin typeface="DM Sans" charset="0"/>
                        <a:ea typeface="DM Sans" charset="0"/>
                        <a:cs typeface="DM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A5568"/>
                          </a:solidFill>
                          <a:latin typeface="DM Sans" pitchFamily="34" charset="0"/>
                          <a:ea typeface="DM Sans" pitchFamily="34" charset="-122"/>
                          <a:cs typeface="DM Sans" pitchFamily="34" charset="-120"/>
                        </a:rPr>
                        <a:t>In-memory Python engine</a:t>
                      </a:r>
                      <a:endParaRPr lang="en-US" sz="1400" dirty="0">
                        <a:latin typeface="DM Sans" charset="0"/>
                        <a:ea typeface="DM Sans" charset="0"/>
                        <a:cs typeface="DM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Hyperledger Fabric or Corda</a:t>
                      </a:r>
                      <a:endParaRPr lang="en-US" sz="1400" dirty="0">
                        <a:latin typeface="DM Sans" charset="0"/>
                        <a:ea typeface="DM Sans" charset="0"/>
                        <a:cs typeface="DM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Keys</a:t>
                      </a:r>
                      <a:endParaRPr lang="en-US" sz="1400" dirty="0">
                        <a:latin typeface="DM Sans" charset="0"/>
                        <a:ea typeface="DM Sans" charset="0"/>
                        <a:cs typeface="DM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A5568"/>
                          </a:solidFill>
                          <a:latin typeface="DM Sans" pitchFamily="34" charset="0"/>
                          <a:ea typeface="DM Sans" pitchFamily="34" charset="-122"/>
                          <a:cs typeface="DM Sans" pitchFamily="34" charset="-120"/>
                        </a:rPr>
                        <a:t>SHA-256 stand-in for HSM</a:t>
                      </a:r>
                      <a:endParaRPr lang="en-US" sz="1400" dirty="0">
                        <a:latin typeface="DM Sans" charset="0"/>
                        <a:ea typeface="DM Sans" charset="0"/>
                        <a:cs typeface="DM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FIPS 140-2 Level 3 HSMs</a:t>
                      </a:r>
                      <a:endParaRPr lang="en-US" sz="1400" dirty="0">
                        <a:latin typeface="DM Sans" charset="0"/>
                        <a:ea typeface="DM Sans" charset="0"/>
                        <a:cs typeface="DM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FX data</a:t>
                      </a:r>
                      <a:endParaRPr lang="en-US" sz="1400" dirty="0">
                        <a:latin typeface="DM Sans" charset="0"/>
                        <a:ea typeface="DM Sans" charset="0"/>
                        <a:cs typeface="DM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A5568"/>
                          </a:solidFill>
                          <a:latin typeface="DM Sans" pitchFamily="34" charset="0"/>
                          <a:ea typeface="DM Sans" pitchFamily="34" charset="-122"/>
                          <a:cs typeface="DM Sans" pitchFamily="34" charset="-120"/>
                        </a:rPr>
                        <a:t>Static rate table</a:t>
                      </a:r>
                      <a:endParaRPr lang="en-US" sz="1400" dirty="0">
                        <a:latin typeface="DM Sans" charset="0"/>
                        <a:ea typeface="DM Sans" charset="0"/>
                        <a:cs typeface="DM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Live Bloomberg or Refinitiv feeds</a:t>
                      </a:r>
                      <a:endParaRPr lang="en-US" sz="1400" dirty="0">
                        <a:latin typeface="DM Sans" charset="0"/>
                        <a:ea typeface="DM Sans" charset="0"/>
                        <a:cs typeface="DM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Merchants</a:t>
                      </a:r>
                      <a:endParaRPr lang="en-US" sz="1400" dirty="0">
                        <a:latin typeface="DM Sans" charset="0"/>
                        <a:ea typeface="DM Sans" charset="0"/>
                        <a:cs typeface="DM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A5568"/>
                          </a:solidFill>
                          <a:latin typeface="DM Sans" pitchFamily="34" charset="0"/>
                          <a:ea typeface="DM Sans" pitchFamily="34" charset="-122"/>
                          <a:cs typeface="DM Sans" pitchFamily="34" charset="-120"/>
                        </a:rPr>
                        <a:t>Simulated MCC registry</a:t>
                      </a:r>
                      <a:endParaRPr lang="en-US" sz="1400" dirty="0">
                        <a:latin typeface="DM Sans" charset="0"/>
                        <a:ea typeface="DM Sans" charset="0"/>
                        <a:cs typeface="DM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UPI/e₹ QR and MCC parsing</a:t>
                      </a:r>
                      <a:endParaRPr lang="en-US" sz="1400" dirty="0">
                        <a:latin typeface="DM Sans" charset="0"/>
                        <a:ea typeface="DM Sans" charset="0"/>
                        <a:cs typeface="DM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Compliance</a:t>
                      </a:r>
                      <a:endParaRPr lang="en-US" sz="1400" dirty="0">
                        <a:latin typeface="DM Sans" charset="0"/>
                        <a:ea typeface="DM Sans" charset="0"/>
                        <a:cs typeface="DM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A5568"/>
                          </a:solidFill>
                          <a:latin typeface="DM Sans" pitchFamily="34" charset="0"/>
                          <a:ea typeface="DM Sans" pitchFamily="34" charset="-122"/>
                          <a:cs typeface="DM Sans" pitchFamily="34" charset="-120"/>
                        </a:rPr>
                        <a:t>Simulated cap proof</a:t>
                      </a:r>
                      <a:endParaRPr lang="en-US" sz="1400" dirty="0">
                        <a:latin typeface="DM Sans" charset="0"/>
                        <a:ea typeface="DM Sans" charset="0"/>
                        <a:cs typeface="DM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On-chain ZKP verification</a:t>
                      </a:r>
                      <a:endParaRPr lang="en-US" sz="1400" dirty="0">
                        <a:latin typeface="DM Sans" charset="0"/>
                        <a:ea typeface="DM Sans" charset="0"/>
                        <a:cs typeface="DM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Throughput</a:t>
                      </a:r>
                      <a:endParaRPr lang="en-US" sz="1400" dirty="0">
                        <a:latin typeface="DM Sans" charset="0"/>
                        <a:ea typeface="DM Sans" charset="0"/>
                        <a:cs typeface="DM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4A5568"/>
                          </a:solidFill>
                          <a:latin typeface="DM Sans" pitchFamily="34" charset="0"/>
                          <a:ea typeface="DM Sans" pitchFamily="34" charset="-122"/>
                          <a:cs typeface="DM Sans" pitchFamily="34" charset="-120"/>
                        </a:rPr>
                        <a:t>Single-threaded</a:t>
                      </a:r>
                      <a:endParaRPr lang="en-US" sz="1400" dirty="0">
                        <a:latin typeface="DM Sans" charset="0"/>
                        <a:ea typeface="DM Sans" charset="0"/>
                        <a:cs typeface="DM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Kafka on Kubernetes, 10,000+ TPS target</a:t>
                      </a:r>
                      <a:endParaRPr lang="en-US" sz="1400" dirty="0">
                        <a:latin typeface="DM Sans" charset="0"/>
                        <a:ea typeface="DM Sans" charset="0"/>
                        <a:cs typeface="DM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4" name="Text 1"/>
          <p:cNvSpPr/>
          <p:nvPr/>
        </p:nvSpPr>
        <p:spPr>
          <a:xfrm>
            <a:off x="812800" y="5593079"/>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Throughput and finality figures are design targets, not measurements from the PoC.</a:t>
            </a:r>
            <a:endParaRPr lang="en-US" sz="1400" dirty="0"/>
          </a:p>
        </p:txBody>
      </p:sp>
      <p:sp>
        <p:nvSpPr>
          <p:cNvPr id="5" name="Text 2"/>
          <p:cNvSpPr/>
          <p:nvPr/>
        </p:nvSpPr>
        <p:spPr>
          <a:xfrm>
            <a:off x="812800" y="6238242"/>
            <a:ext cx="44028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PurposePay · Digital Rupee Cross-Border Hackathon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3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E"/>
                </a:solidFill>
                <a:latin typeface="DM Sans" pitchFamily="34" charset="0"/>
                <a:ea typeface="DM Sans" pitchFamily="34" charset="-122"/>
                <a:cs typeface="DM Sans" pitchFamily="34" charset="-120"/>
              </a:rPr>
              <a:t>Questions we expect</a:t>
            </a:r>
            <a:endParaRPr lang="en-US" sz="3200" dirty="0"/>
          </a:p>
        </p:txBody>
      </p:sp>
      <p:sp>
        <p:nvSpPr>
          <p:cNvPr id="3" name="Shape 1"/>
          <p:cNvSpPr/>
          <p:nvPr/>
        </p:nvSpPr>
        <p:spPr>
          <a:xfrm>
            <a:off x="815975" y="3193417"/>
            <a:ext cx="5200650" cy="1243330"/>
          </a:xfrm>
          <a:prstGeom prst="roundRect">
            <a:avLst>
              <a:gd name="adj" fmla="val 9959"/>
            </a:avLst>
          </a:prstGeom>
          <a:solidFill>
            <a:srgbClr val="1A2B57"/>
          </a:solidFill>
          <a:ln w="6350">
            <a:solidFill>
              <a:srgbClr val="34509A"/>
            </a:solidFill>
            <a:prstDash val="solid"/>
          </a:ln>
        </p:spPr>
      </p:sp>
      <p:sp>
        <p:nvSpPr>
          <p:cNvPr id="4" name="Text 2"/>
          <p:cNvSpPr/>
          <p:nvPr/>
        </p:nvSpPr>
        <p:spPr>
          <a:xfrm>
            <a:off x="1046480" y="3423921"/>
            <a:ext cx="488182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04A"/>
                </a:solidFill>
                <a:latin typeface="DM Sans" pitchFamily="34" charset="0"/>
                <a:ea typeface="DM Sans" pitchFamily="34" charset="-122"/>
                <a:cs typeface="DM Sans" pitchFamily="34" charset="-120"/>
              </a:rPr>
              <a:t>Does it work beyond a PoC?</a:t>
            </a:r>
            <a:endParaRPr lang="en-US" sz="1600" dirty="0"/>
          </a:p>
        </p:txBody>
      </p:sp>
      <p:sp>
        <p:nvSpPr>
          <p:cNvPr id="5" name="Text 3"/>
          <p:cNvSpPr/>
          <p:nvPr/>
        </p:nvSpPr>
        <p:spPr>
          <a:xfrm>
            <a:off x="1046480" y="3743964"/>
            <a:ext cx="488182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DF0"/>
                </a:solidFill>
                <a:latin typeface="DM Sans" pitchFamily="34" charset="0"/>
                <a:ea typeface="DM Sans" pitchFamily="34" charset="-122"/>
                <a:cs typeface="DM Sans" pitchFamily="34" charset="-120"/>
              </a:rPr>
              <a:t>Each shortcut has a production replacement: permissioned DLT, HSMs, live FX, Kafka and ZKP verification.</a:t>
            </a:r>
            <a:endParaRPr lang="en-US" sz="1300" dirty="0"/>
          </a:p>
        </p:txBody>
      </p:sp>
      <p:sp>
        <p:nvSpPr>
          <p:cNvPr id="6" name="Shape 4"/>
          <p:cNvSpPr/>
          <p:nvPr/>
        </p:nvSpPr>
        <p:spPr>
          <a:xfrm>
            <a:off x="6175375" y="3193417"/>
            <a:ext cx="5200650" cy="1243330"/>
          </a:xfrm>
          <a:prstGeom prst="roundRect">
            <a:avLst>
              <a:gd name="adj" fmla="val 9959"/>
            </a:avLst>
          </a:prstGeom>
          <a:solidFill>
            <a:srgbClr val="1A2B57"/>
          </a:solidFill>
          <a:ln w="6350">
            <a:solidFill>
              <a:srgbClr val="34509A"/>
            </a:solidFill>
            <a:prstDash val="solid"/>
          </a:ln>
        </p:spPr>
      </p:sp>
      <p:sp>
        <p:nvSpPr>
          <p:cNvPr id="7" name="Text 5"/>
          <p:cNvSpPr/>
          <p:nvPr/>
        </p:nvSpPr>
        <p:spPr>
          <a:xfrm>
            <a:off x="6405880" y="3423921"/>
            <a:ext cx="488182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04A"/>
                </a:solidFill>
                <a:latin typeface="DM Sans" pitchFamily="34" charset="0"/>
                <a:ea typeface="DM Sans" pitchFamily="34" charset="-122"/>
                <a:cs typeface="DM Sans" pitchFamily="34" charset="-120"/>
              </a:rPr>
              <a:t>Central banks move slowly</a:t>
            </a:r>
            <a:endParaRPr lang="en-US" sz="1600" dirty="0"/>
          </a:p>
        </p:txBody>
      </p:sp>
      <p:sp>
        <p:nvSpPr>
          <p:cNvPr id="8" name="Text 6"/>
          <p:cNvSpPr/>
          <p:nvPr/>
        </p:nvSpPr>
        <p:spPr>
          <a:xfrm>
            <a:off x="6405880" y="3743964"/>
            <a:ext cx="488182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DF0"/>
                </a:solidFill>
                <a:latin typeface="DM Sans" pitchFamily="34" charset="0"/>
                <a:ea typeface="DM Sans" pitchFamily="34" charset="-122"/>
                <a:cs typeface="DM Sans" pitchFamily="34" charset="-120"/>
              </a:rPr>
              <a:t>The gateway runs in regulator sandboxes first, with synthetic tokens backed 1:1 by bank money.</a:t>
            </a:r>
            <a:endParaRPr lang="en-US" sz="1300" dirty="0"/>
          </a:p>
        </p:txBody>
      </p:sp>
      <p:sp>
        <p:nvSpPr>
          <p:cNvPr id="9" name="Shape 7"/>
          <p:cNvSpPr/>
          <p:nvPr/>
        </p:nvSpPr>
        <p:spPr>
          <a:xfrm>
            <a:off x="815975" y="4595496"/>
            <a:ext cx="5200650" cy="1243330"/>
          </a:xfrm>
          <a:prstGeom prst="roundRect">
            <a:avLst>
              <a:gd name="adj" fmla="val 9959"/>
            </a:avLst>
          </a:prstGeom>
          <a:solidFill>
            <a:srgbClr val="1A2B57"/>
          </a:solidFill>
          <a:ln w="6350">
            <a:solidFill>
              <a:srgbClr val="34509A"/>
            </a:solidFill>
            <a:prstDash val="solid"/>
          </a:ln>
        </p:spPr>
      </p:sp>
      <p:sp>
        <p:nvSpPr>
          <p:cNvPr id="10" name="Text 8"/>
          <p:cNvSpPr/>
          <p:nvPr/>
        </p:nvSpPr>
        <p:spPr>
          <a:xfrm>
            <a:off x="1046480" y="4826000"/>
            <a:ext cx="488182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04A"/>
                </a:solidFill>
                <a:latin typeface="DM Sans" pitchFamily="34" charset="0"/>
                <a:ea typeface="DM Sans" pitchFamily="34" charset="-122"/>
                <a:cs typeface="DM Sans" pitchFamily="34" charset="-120"/>
              </a:rPr>
              <a:t>Can a merchant misuse its code?</a:t>
            </a:r>
            <a:endParaRPr lang="en-US" sz="1600" dirty="0"/>
          </a:p>
        </p:txBody>
      </p:sp>
      <p:sp>
        <p:nvSpPr>
          <p:cNvPr id="11" name="Text 9"/>
          <p:cNvSpPr/>
          <p:nvPr/>
        </p:nvSpPr>
        <p:spPr>
          <a:xfrm>
            <a:off x="1046480" y="5146042"/>
            <a:ext cx="488182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DF0"/>
                </a:solidFill>
                <a:latin typeface="DM Sans" pitchFamily="34" charset="0"/>
                <a:ea typeface="DM Sans" pitchFamily="34" charset="-122"/>
                <a:cs typeface="DM Sans" pitchFamily="34" charset="-120"/>
              </a:rPr>
              <a:t>The contract checks the parent MCC and the registered terminal ID from itemised payment data.</a:t>
            </a:r>
            <a:endParaRPr lang="en-US" sz="1300" dirty="0"/>
          </a:p>
        </p:txBody>
      </p:sp>
      <p:sp>
        <p:nvSpPr>
          <p:cNvPr id="12" name="Shape 10"/>
          <p:cNvSpPr/>
          <p:nvPr/>
        </p:nvSpPr>
        <p:spPr>
          <a:xfrm>
            <a:off x="6175375" y="4595496"/>
            <a:ext cx="5200650" cy="1243330"/>
          </a:xfrm>
          <a:prstGeom prst="roundRect">
            <a:avLst>
              <a:gd name="adj" fmla="val 9959"/>
            </a:avLst>
          </a:prstGeom>
          <a:solidFill>
            <a:srgbClr val="1A2B57"/>
          </a:solidFill>
          <a:ln w="6350">
            <a:solidFill>
              <a:srgbClr val="34509A"/>
            </a:solidFill>
            <a:prstDash val="solid"/>
          </a:ln>
        </p:spPr>
      </p:sp>
      <p:sp>
        <p:nvSpPr>
          <p:cNvPr id="13" name="Text 11"/>
          <p:cNvSpPr/>
          <p:nvPr/>
        </p:nvSpPr>
        <p:spPr>
          <a:xfrm>
            <a:off x="6405880" y="4826000"/>
            <a:ext cx="488182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04A"/>
                </a:solidFill>
                <a:latin typeface="DM Sans" pitchFamily="34" charset="0"/>
                <a:ea typeface="DM Sans" pitchFamily="34" charset="-122"/>
                <a:cs typeface="DM Sans" pitchFamily="34" charset="-120"/>
              </a:rPr>
              <a:t>What if a phone is lost?</a:t>
            </a:r>
            <a:endParaRPr lang="en-US" sz="1600" dirty="0"/>
          </a:p>
        </p:txBody>
      </p:sp>
      <p:sp>
        <p:nvSpPr>
          <p:cNvPr id="14" name="Text 12"/>
          <p:cNvSpPr/>
          <p:nvPr/>
        </p:nvSpPr>
        <p:spPr>
          <a:xfrm>
            <a:off x="6405880" y="5146042"/>
            <a:ext cx="488182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DF0"/>
                </a:solidFill>
                <a:latin typeface="DM Sans" pitchFamily="34" charset="0"/>
                <a:ea typeface="DM Sans" pitchFamily="34" charset="-122"/>
                <a:cs typeface="DM Sans" pitchFamily="34" charset="-120"/>
              </a:rPr>
              <a:t>Social recovery or multi-signature wallets tied to national ID restore balances at a bank branch.</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Four phases, gated by approvals</a:t>
            </a:r>
            <a:endParaRPr lang="en-US" sz="3200" dirty="0"/>
          </a:p>
        </p:txBody>
      </p:sp>
      <p:sp>
        <p:nvSpPr>
          <p:cNvPr id="3" name="Shape 1"/>
          <p:cNvSpPr/>
          <p:nvPr/>
        </p:nvSpPr>
        <p:spPr>
          <a:xfrm>
            <a:off x="819150" y="2094229"/>
            <a:ext cx="2324100" cy="1953260"/>
          </a:xfrm>
          <a:prstGeom prst="roundRect">
            <a:avLst>
              <a:gd name="adj" fmla="val 7477"/>
            </a:avLst>
          </a:prstGeom>
          <a:solidFill>
            <a:srgbClr val="FCEBD6"/>
          </a:solidFill>
          <a:ln w="12700">
            <a:solidFill>
              <a:srgbClr val="E8892B"/>
            </a:solidFill>
            <a:prstDash val="solid"/>
          </a:ln>
        </p:spPr>
      </p:sp>
      <p:sp>
        <p:nvSpPr>
          <p:cNvPr id="4" name="Text 2"/>
          <p:cNvSpPr/>
          <p:nvPr/>
        </p:nvSpPr>
        <p:spPr>
          <a:xfrm>
            <a:off x="1026160" y="2301242"/>
            <a:ext cx="196738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DM Sans" pitchFamily="34" charset="0"/>
                <a:ea typeface="DM Sans" pitchFamily="34" charset="-122"/>
                <a:cs typeface="DM Sans" pitchFamily="34" charset="-120"/>
              </a:rPr>
              <a:t>Phase 1 · this submission</a:t>
            </a:r>
            <a:endParaRPr lang="en-US" sz="1200" dirty="0"/>
          </a:p>
        </p:txBody>
      </p:sp>
      <p:sp>
        <p:nvSpPr>
          <p:cNvPr id="5" name="Text 3"/>
          <p:cNvSpPr/>
          <p:nvPr/>
        </p:nvSpPr>
        <p:spPr>
          <a:xfrm>
            <a:off x="1026160" y="2578100"/>
            <a:ext cx="196738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DM Sans" pitchFamily="34" charset="0"/>
                <a:ea typeface="DM Sans" pitchFamily="34" charset="-122"/>
                <a:cs typeface="DM Sans" pitchFamily="34" charset="-120"/>
              </a:rPr>
              <a:t>PoC</a:t>
            </a:r>
            <a:endParaRPr lang="en-US" sz="1800" dirty="0"/>
          </a:p>
        </p:txBody>
      </p:sp>
      <p:sp>
        <p:nvSpPr>
          <p:cNvPr id="6" name="Text 4"/>
          <p:cNvSpPr/>
          <p:nvPr/>
        </p:nvSpPr>
        <p:spPr>
          <a:xfrm>
            <a:off x="1026160" y="2915921"/>
            <a:ext cx="1967383"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In-memory contract engine and demo UI with simulated HSM, FX and ZKP</a:t>
            </a:r>
            <a:endParaRPr lang="en-US" sz="1300" dirty="0"/>
          </a:p>
        </p:txBody>
      </p:sp>
      <p:sp>
        <p:nvSpPr>
          <p:cNvPr id="7" name="Text 5"/>
          <p:cNvSpPr/>
          <p:nvPr/>
        </p:nvSpPr>
        <p:spPr>
          <a:xfrm>
            <a:off x="815975" y="4158617"/>
            <a:ext cx="2330450" cy="603250"/>
          </a:xfrm>
          <a:prstGeom prst="roundRect">
            <a:avLst>
              <a:gd name="adj" fmla="val 16316"/>
            </a:avLst>
          </a:prstGeom>
          <a:solidFill>
            <a:srgbClr val="FFFDF8"/>
          </a:solidFill>
          <a:ln w="6350">
            <a:solidFill>
              <a:srgbClr val="E3DFD3"/>
            </a:solidFill>
            <a:prstDash val="solid"/>
          </a:ln>
        </p:spPr>
        <p:txBody>
          <a:bodyPr wrap="square" lIns="100077" tIns="74677" rIns="37898" bIns="49277" rtlCol="0" anchor="t">
            <a:normAutofit/>
          </a:bodyPr>
          <a:lstStyle/>
          <a:p>
            <a:pPr algn="l" indent="0" marL="0">
              <a:lnSpc>
                <a:spcPts val="1560"/>
              </a:lnSpc>
              <a:buNone/>
            </a:pPr>
            <a:r>
              <a:rPr lang="en-US" sz="1200" dirty="0">
                <a:solidFill>
                  <a:srgbClr val="14213D"/>
                </a:solidFill>
                <a:latin typeface="DM Sans" pitchFamily="34" charset="0"/>
                <a:ea typeface="DM Sans" pitchFamily="34" charset="-122"/>
                <a:cs typeface="DM Sans" pitchFamily="34" charset="-120"/>
              </a:rPr>
              <a:t>Gate 1: valid and blocked purchase tests pass</a:t>
            </a:r>
            <a:endParaRPr lang="en-US" sz="1200" dirty="0"/>
          </a:p>
        </p:txBody>
      </p:sp>
      <p:pic>
        <p:nvPicPr>
          <p:cNvPr id="8" name="Image 0" descr="arrow-right">    </p:cNvPr>
          <p:cNvPicPr>
            <a:picLocks noChangeAspect="1"/>
          </p:cNvPicPr>
          <p:nvPr/>
        </p:nvPicPr>
        <p:blipFill>
          <a:blip r:embed="rId1"/>
          <a:srcRect l="0" r="0" t="0" b="0"/>
          <a:stretch/>
        </p:blipFill>
        <p:spPr>
          <a:xfrm>
            <a:off x="3225800" y="3350264"/>
            <a:ext cx="254000" cy="152400"/>
          </a:xfrm>
          <a:prstGeom prst="rect">
            <a:avLst/>
          </a:prstGeom>
        </p:spPr>
      </p:pic>
      <p:sp>
        <p:nvSpPr>
          <p:cNvPr id="9" name="Shape 6"/>
          <p:cNvSpPr/>
          <p:nvPr/>
        </p:nvSpPr>
        <p:spPr>
          <a:xfrm>
            <a:off x="3559175" y="2091054"/>
            <a:ext cx="2330450" cy="1959610"/>
          </a:xfrm>
          <a:prstGeom prst="roundRect">
            <a:avLst>
              <a:gd name="adj" fmla="val 7615"/>
            </a:avLst>
          </a:prstGeom>
          <a:solidFill>
            <a:srgbClr val="FFFDF8"/>
          </a:solidFill>
          <a:ln w="6350">
            <a:solidFill>
              <a:srgbClr val="E3DFD3"/>
            </a:solidFill>
            <a:prstDash val="solid"/>
          </a:ln>
        </p:spPr>
      </p:sp>
      <p:sp>
        <p:nvSpPr>
          <p:cNvPr id="10" name="Text 7"/>
          <p:cNvSpPr/>
          <p:nvPr/>
        </p:nvSpPr>
        <p:spPr>
          <a:xfrm>
            <a:off x="3764280" y="2296164"/>
            <a:ext cx="19778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DM Sans" pitchFamily="34" charset="0"/>
                <a:ea typeface="DM Sans" pitchFamily="34" charset="-122"/>
                <a:cs typeface="DM Sans" pitchFamily="34" charset="-120"/>
              </a:rPr>
              <a:t>Phase 2</a:t>
            </a:r>
            <a:endParaRPr lang="en-US" sz="1200" dirty="0"/>
          </a:p>
        </p:txBody>
      </p:sp>
      <p:sp>
        <p:nvSpPr>
          <p:cNvPr id="11" name="Text 8"/>
          <p:cNvSpPr/>
          <p:nvPr/>
        </p:nvSpPr>
        <p:spPr>
          <a:xfrm>
            <a:off x="3764280" y="2573021"/>
            <a:ext cx="197784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DM Sans" pitchFamily="34" charset="0"/>
                <a:ea typeface="DM Sans" pitchFamily="34" charset="-122"/>
                <a:cs typeface="DM Sans" pitchFamily="34" charset="-120"/>
              </a:rPr>
              <a:t>Sandbox</a:t>
            </a:r>
            <a:endParaRPr lang="en-US" sz="1800" dirty="0"/>
          </a:p>
        </p:txBody>
      </p:sp>
      <p:sp>
        <p:nvSpPr>
          <p:cNvPr id="12" name="Text 9"/>
          <p:cNvSpPr/>
          <p:nvPr/>
        </p:nvSpPr>
        <p:spPr>
          <a:xfrm>
            <a:off x="3764280" y="2910842"/>
            <a:ext cx="197784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Synthetic tokens backed 1:1 by bank money, one corridor</a:t>
            </a:r>
            <a:endParaRPr lang="en-US" sz="1300" dirty="0"/>
          </a:p>
        </p:txBody>
      </p:sp>
      <p:sp>
        <p:nvSpPr>
          <p:cNvPr id="13" name="Text 10"/>
          <p:cNvSpPr/>
          <p:nvPr/>
        </p:nvSpPr>
        <p:spPr>
          <a:xfrm>
            <a:off x="3559175" y="4158617"/>
            <a:ext cx="2330450" cy="603250"/>
          </a:xfrm>
          <a:prstGeom prst="roundRect">
            <a:avLst>
              <a:gd name="adj" fmla="val 16316"/>
            </a:avLst>
          </a:prstGeom>
          <a:solidFill>
            <a:srgbClr val="FFFDF8"/>
          </a:solidFill>
          <a:ln w="6350">
            <a:solidFill>
              <a:srgbClr val="E3DFD3"/>
            </a:solidFill>
            <a:prstDash val="solid"/>
          </a:ln>
        </p:spPr>
        <p:txBody>
          <a:bodyPr wrap="square" lIns="100077" tIns="74677" rIns="37898" bIns="49277" rtlCol="0" anchor="t">
            <a:normAutofit/>
          </a:bodyPr>
          <a:lstStyle/>
          <a:p>
            <a:pPr algn="l" indent="0" marL="0">
              <a:lnSpc>
                <a:spcPts val="1560"/>
              </a:lnSpc>
              <a:buNone/>
            </a:pPr>
            <a:r>
              <a:rPr lang="en-US" sz="1200" dirty="0">
                <a:solidFill>
                  <a:srgbClr val="14213D"/>
                </a:solidFill>
                <a:latin typeface="DM Sans" pitchFamily="34" charset="0"/>
                <a:ea typeface="DM Sans" pitchFamily="34" charset="-122"/>
                <a:cs typeface="DM Sans" pitchFamily="34" charset="-120"/>
              </a:rPr>
              <a:t>Gate 2: regulator sandbox approval</a:t>
            </a:r>
            <a:endParaRPr lang="en-US" sz="1200" dirty="0"/>
          </a:p>
        </p:txBody>
      </p:sp>
      <p:pic>
        <p:nvPicPr>
          <p:cNvPr id="14" name="Image 1" descr="arrow-right">    </p:cNvPr>
          <p:cNvPicPr>
            <a:picLocks noChangeAspect="1"/>
          </p:cNvPicPr>
          <p:nvPr/>
        </p:nvPicPr>
        <p:blipFill>
          <a:blip r:embed="rId2"/>
          <a:srcRect l="0" r="0" t="0" b="0"/>
          <a:stretch/>
        </p:blipFill>
        <p:spPr>
          <a:xfrm>
            <a:off x="5969000" y="3350264"/>
            <a:ext cx="254000" cy="152400"/>
          </a:xfrm>
          <a:prstGeom prst="rect">
            <a:avLst/>
          </a:prstGeom>
        </p:spPr>
      </p:pic>
      <p:sp>
        <p:nvSpPr>
          <p:cNvPr id="15" name="Shape 11"/>
          <p:cNvSpPr/>
          <p:nvPr/>
        </p:nvSpPr>
        <p:spPr>
          <a:xfrm>
            <a:off x="6302375" y="2091054"/>
            <a:ext cx="2330450" cy="1959610"/>
          </a:xfrm>
          <a:prstGeom prst="roundRect">
            <a:avLst>
              <a:gd name="adj" fmla="val 7615"/>
            </a:avLst>
          </a:prstGeom>
          <a:solidFill>
            <a:srgbClr val="FFFDF8"/>
          </a:solidFill>
          <a:ln w="6350">
            <a:solidFill>
              <a:srgbClr val="E3DFD3"/>
            </a:solidFill>
            <a:prstDash val="solid"/>
          </a:ln>
        </p:spPr>
      </p:sp>
      <p:sp>
        <p:nvSpPr>
          <p:cNvPr id="16" name="Text 12"/>
          <p:cNvSpPr/>
          <p:nvPr/>
        </p:nvSpPr>
        <p:spPr>
          <a:xfrm>
            <a:off x="6507480" y="2296164"/>
            <a:ext cx="19778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DM Sans" pitchFamily="34" charset="0"/>
                <a:ea typeface="DM Sans" pitchFamily="34" charset="-122"/>
                <a:cs typeface="DM Sans" pitchFamily="34" charset="-120"/>
              </a:rPr>
              <a:t>Phase 3</a:t>
            </a:r>
            <a:endParaRPr lang="en-US" sz="1200" dirty="0"/>
          </a:p>
        </p:txBody>
      </p:sp>
      <p:sp>
        <p:nvSpPr>
          <p:cNvPr id="17" name="Text 13"/>
          <p:cNvSpPr/>
          <p:nvPr/>
        </p:nvSpPr>
        <p:spPr>
          <a:xfrm>
            <a:off x="6507480" y="2573021"/>
            <a:ext cx="197784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DM Sans" pitchFamily="34" charset="0"/>
                <a:ea typeface="DM Sans" pitchFamily="34" charset="-122"/>
                <a:cs typeface="DM Sans" pitchFamily="34" charset="-120"/>
              </a:rPr>
              <a:t>Platform</a:t>
            </a:r>
            <a:endParaRPr lang="en-US" sz="1800" dirty="0"/>
          </a:p>
        </p:txBody>
      </p:sp>
      <p:sp>
        <p:nvSpPr>
          <p:cNvPr id="18" name="Text 14"/>
          <p:cNvSpPr/>
          <p:nvPr/>
        </p:nvSpPr>
        <p:spPr>
          <a:xfrm>
            <a:off x="6507480" y="2910842"/>
            <a:ext cx="197784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Permissioned DLT, HSMs, live FX feeds and Kafka scaling</a:t>
            </a:r>
            <a:endParaRPr lang="en-US" sz="1300" dirty="0"/>
          </a:p>
        </p:txBody>
      </p:sp>
      <p:sp>
        <p:nvSpPr>
          <p:cNvPr id="19" name="Text 15"/>
          <p:cNvSpPr/>
          <p:nvPr/>
        </p:nvSpPr>
        <p:spPr>
          <a:xfrm>
            <a:off x="6302375" y="4158617"/>
            <a:ext cx="2330450" cy="603250"/>
          </a:xfrm>
          <a:prstGeom prst="roundRect">
            <a:avLst>
              <a:gd name="adj" fmla="val 16316"/>
            </a:avLst>
          </a:prstGeom>
          <a:solidFill>
            <a:srgbClr val="FFFDF8"/>
          </a:solidFill>
          <a:ln w="6350">
            <a:solidFill>
              <a:srgbClr val="E3DFD3"/>
            </a:solidFill>
            <a:prstDash val="solid"/>
          </a:ln>
        </p:spPr>
        <p:txBody>
          <a:bodyPr wrap="square" lIns="100077" tIns="74677" rIns="37898" bIns="49277" rtlCol="0" anchor="t">
            <a:normAutofit/>
          </a:bodyPr>
          <a:lstStyle/>
          <a:p>
            <a:pPr algn="l" indent="0" marL="0">
              <a:lnSpc>
                <a:spcPts val="1560"/>
              </a:lnSpc>
              <a:buNone/>
            </a:pPr>
            <a:r>
              <a:rPr lang="en-US" sz="1200" dirty="0">
                <a:solidFill>
                  <a:srgbClr val="14213D"/>
                </a:solidFill>
                <a:latin typeface="DM Sans" pitchFamily="34" charset="0"/>
                <a:ea typeface="DM Sans" pitchFamily="34" charset="-122"/>
                <a:cs typeface="DM Sans" pitchFamily="34" charset="-120"/>
              </a:rPr>
              <a:t>Gate 3: security audit and load test pass</a:t>
            </a:r>
            <a:endParaRPr lang="en-US" sz="1200" dirty="0"/>
          </a:p>
        </p:txBody>
      </p:sp>
      <p:pic>
        <p:nvPicPr>
          <p:cNvPr id="20" name="Image 2" descr="arrow-right">    </p:cNvPr>
          <p:cNvPicPr>
            <a:picLocks noChangeAspect="1"/>
          </p:cNvPicPr>
          <p:nvPr/>
        </p:nvPicPr>
        <p:blipFill>
          <a:blip r:embed="rId3"/>
          <a:srcRect l="0" r="0" t="0" b="0"/>
          <a:stretch/>
        </p:blipFill>
        <p:spPr>
          <a:xfrm>
            <a:off x="8712200" y="3350264"/>
            <a:ext cx="254000" cy="152400"/>
          </a:xfrm>
          <a:prstGeom prst="rect">
            <a:avLst/>
          </a:prstGeom>
        </p:spPr>
      </p:pic>
      <p:sp>
        <p:nvSpPr>
          <p:cNvPr id="21" name="Shape 16"/>
          <p:cNvSpPr/>
          <p:nvPr/>
        </p:nvSpPr>
        <p:spPr>
          <a:xfrm>
            <a:off x="9045575" y="2091054"/>
            <a:ext cx="2330450" cy="1959610"/>
          </a:xfrm>
          <a:prstGeom prst="roundRect">
            <a:avLst>
              <a:gd name="adj" fmla="val 7615"/>
            </a:avLst>
          </a:prstGeom>
          <a:solidFill>
            <a:srgbClr val="FFFDF8"/>
          </a:solidFill>
          <a:ln w="6350">
            <a:solidFill>
              <a:srgbClr val="E3DFD3"/>
            </a:solidFill>
            <a:prstDash val="solid"/>
          </a:ln>
        </p:spPr>
      </p:sp>
      <p:sp>
        <p:nvSpPr>
          <p:cNvPr id="22" name="Text 17"/>
          <p:cNvSpPr/>
          <p:nvPr/>
        </p:nvSpPr>
        <p:spPr>
          <a:xfrm>
            <a:off x="9250680" y="2296164"/>
            <a:ext cx="19778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DM Sans" pitchFamily="34" charset="0"/>
                <a:ea typeface="DM Sans" pitchFamily="34" charset="-122"/>
                <a:cs typeface="DM Sans" pitchFamily="34" charset="-120"/>
              </a:rPr>
              <a:t>Phase 4</a:t>
            </a:r>
            <a:endParaRPr lang="en-US" sz="1200" dirty="0"/>
          </a:p>
        </p:txBody>
      </p:sp>
      <p:sp>
        <p:nvSpPr>
          <p:cNvPr id="23" name="Text 18"/>
          <p:cNvSpPr/>
          <p:nvPr/>
        </p:nvSpPr>
        <p:spPr>
          <a:xfrm>
            <a:off x="9250680" y="2573021"/>
            <a:ext cx="197784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DM Sans" pitchFamily="34" charset="0"/>
                <a:ea typeface="DM Sans" pitchFamily="34" charset="-122"/>
                <a:cs typeface="DM Sans" pitchFamily="34" charset="-120"/>
              </a:rPr>
              <a:t>e₹ rail</a:t>
            </a:r>
            <a:endParaRPr lang="en-US" sz="1800" dirty="0"/>
          </a:p>
        </p:txBody>
      </p:sp>
      <p:sp>
        <p:nvSpPr>
          <p:cNvPr id="24" name="Text 19"/>
          <p:cNvSpPr/>
          <p:nvPr/>
        </p:nvSpPr>
        <p:spPr>
          <a:xfrm>
            <a:off x="9250680" y="2910842"/>
            <a:ext cx="197784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Swap settlement to central bank e₹ as retail corridors go live</a:t>
            </a:r>
            <a:endParaRPr lang="en-US" sz="1300" dirty="0"/>
          </a:p>
        </p:txBody>
      </p:sp>
      <p:sp>
        <p:nvSpPr>
          <p:cNvPr id="25" name="Text 20"/>
          <p:cNvSpPr/>
          <p:nvPr/>
        </p:nvSpPr>
        <p:spPr>
          <a:xfrm>
            <a:off x="9045575" y="4158617"/>
            <a:ext cx="2330450" cy="603250"/>
          </a:xfrm>
          <a:prstGeom prst="roundRect">
            <a:avLst>
              <a:gd name="adj" fmla="val 16316"/>
            </a:avLst>
          </a:prstGeom>
          <a:solidFill>
            <a:srgbClr val="FFFDF8"/>
          </a:solidFill>
          <a:ln w="6350">
            <a:solidFill>
              <a:srgbClr val="E3DFD3"/>
            </a:solidFill>
            <a:prstDash val="solid"/>
          </a:ln>
        </p:spPr>
        <p:txBody>
          <a:bodyPr wrap="square" lIns="100077" tIns="74677" rIns="37898" bIns="49277" rtlCol="0" anchor="t">
            <a:normAutofit/>
          </a:bodyPr>
          <a:lstStyle/>
          <a:p>
            <a:pPr algn="l" indent="0" marL="0">
              <a:lnSpc>
                <a:spcPts val="1560"/>
              </a:lnSpc>
              <a:buNone/>
            </a:pPr>
            <a:r>
              <a:rPr lang="en-US" sz="1200" dirty="0">
                <a:solidFill>
                  <a:srgbClr val="14213D"/>
                </a:solidFill>
                <a:latin typeface="DM Sans" pitchFamily="34" charset="0"/>
                <a:ea typeface="DM Sans" pitchFamily="34" charset="-122"/>
                <a:cs typeface="DM Sans" pitchFamily="34" charset="-120"/>
              </a:rPr>
              <a:t>Goal: live UAE to India corridor</a:t>
            </a:r>
            <a:endParaRPr lang="en-US" sz="1200" dirty="0"/>
          </a:p>
        </p:txBody>
      </p:sp>
      <p:sp>
        <p:nvSpPr>
          <p:cNvPr id="26" name="Text 21"/>
          <p:cNvSpPr/>
          <p:nvPr/>
        </p:nvSpPr>
        <p:spPr>
          <a:xfrm>
            <a:off x="812800" y="5593079"/>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Dates depend on regulator timelines, so each gate, not a calendar date, starts the next phase.</a:t>
            </a:r>
            <a:endParaRPr lang="en-US" sz="1400" dirty="0"/>
          </a:p>
        </p:txBody>
      </p:sp>
      <p:sp>
        <p:nvSpPr>
          <p:cNvPr id="27" name="Text 22"/>
          <p:cNvSpPr/>
          <p:nvPr/>
        </p:nvSpPr>
        <p:spPr>
          <a:xfrm>
            <a:off x="812800" y="6238242"/>
            <a:ext cx="44028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PurposePay · Digital Rupee Cross-Border Hackathon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type="title"/>
          </p:nvPr>
        </p:nvSpPr>
        <p:spPr>
          <a:xfrm>
            <a:off x="812800" y="1308100"/>
            <a:ext cx="10883392" cy="985520"/>
          </a:xfrm>
          <a:prstGeom prst="rect">
            <a:avLst/>
          </a:prstGeom>
          <a:noFill/>
          <a:ln/>
        </p:spPr>
        <p:txBody>
          <a:bodyPr wrap="square" lIns="0" tIns="0" rIns="0" bIns="0" rtlCol="0" anchor="t">
            <a:normAutofit/>
          </a:bodyPr>
          <a:lstStyle/>
          <a:p>
            <a:pPr algn="l" indent="0" marL="0">
              <a:lnSpc>
                <a:spcPts val="7560"/>
              </a:lnSpc>
              <a:buNone/>
            </a:pPr>
            <a:r>
              <a:rPr lang="en-US" sz="7200" b="1" i="0" dirty="0">
                <a:solidFill>
                  <a:srgbClr val="F6F4EE"/>
                </a:solidFill>
                <a:latin typeface="DM Sans" pitchFamily="34" charset="0"/>
                <a:ea typeface="DM Sans" pitchFamily="34" charset="-122"/>
                <a:cs typeface="DM Sans" pitchFamily="34" charset="-120"/>
              </a:rPr>
              <a:t>Remit with intent</a:t>
            </a:r>
            <a:endParaRPr lang="en-US" sz="7200" dirty="0"/>
          </a:p>
        </p:txBody>
      </p:sp>
      <p:sp>
        <p:nvSpPr>
          <p:cNvPr id="3" name="Text 1"/>
          <p:cNvSpPr/>
          <p:nvPr/>
        </p:nvSpPr>
        <p:spPr>
          <a:xfrm>
            <a:off x="812800" y="2395221"/>
            <a:ext cx="10883392"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8C4DE"/>
                </a:solidFill>
                <a:latin typeface="DM Sans" pitchFamily="34" charset="0"/>
                <a:ea typeface="DM Sans" pitchFamily="34" charset="-122"/>
                <a:cs typeface="DM Sans" pitchFamily="34" charset="-120"/>
              </a:rPr>
              <a:t>The same USD 1,000, two very different outcomes.</a:t>
            </a:r>
            <a:endParaRPr lang="en-US" sz="1800" dirty="0"/>
          </a:p>
        </p:txBody>
      </p:sp>
      <p:sp>
        <p:nvSpPr>
          <p:cNvPr id="4" name="Shape 2"/>
          <p:cNvSpPr/>
          <p:nvPr/>
        </p:nvSpPr>
        <p:spPr>
          <a:xfrm>
            <a:off x="815975" y="3051175"/>
            <a:ext cx="5170170" cy="1855470"/>
          </a:xfrm>
          <a:prstGeom prst="roundRect">
            <a:avLst>
              <a:gd name="adj" fmla="val 8042"/>
            </a:avLst>
          </a:prstGeom>
          <a:solidFill>
            <a:srgbClr val="1A2B57"/>
          </a:solidFill>
          <a:ln w="6350">
            <a:solidFill>
              <a:srgbClr val="34509A"/>
            </a:solidFill>
            <a:prstDash val="solid"/>
          </a:ln>
        </p:spPr>
      </p:sp>
      <p:sp>
        <p:nvSpPr>
          <p:cNvPr id="5" name="Text 3"/>
          <p:cNvSpPr/>
          <p:nvPr/>
        </p:nvSpPr>
        <p:spPr>
          <a:xfrm>
            <a:off x="1071880" y="3307079"/>
            <a:ext cx="479811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8C4DE"/>
                </a:solidFill>
                <a:latin typeface="DM Sans" pitchFamily="34" charset="0"/>
                <a:ea typeface="DM Sans" pitchFamily="34" charset="-122"/>
                <a:cs typeface="DM Sans" pitchFamily="34" charset="-120"/>
              </a:rPr>
              <a:t>SWIFT wire</a:t>
            </a:r>
            <a:endParaRPr lang="en-US" sz="1800" dirty="0"/>
          </a:p>
        </p:txBody>
      </p:sp>
      <p:sp>
        <p:nvSpPr>
          <p:cNvPr id="6" name="Text 4"/>
          <p:cNvSpPr/>
          <p:nvPr/>
        </p:nvSpPr>
        <p:spPr>
          <a:xfrm>
            <a:off x="1071880" y="3670300"/>
            <a:ext cx="4798111"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6F4EE"/>
                </a:solidFill>
                <a:latin typeface="DM Sans" pitchFamily="34" charset="0"/>
                <a:ea typeface="DM Sans" pitchFamily="34" charset="-122"/>
                <a:cs typeface="DM Sans" pitchFamily="34" charset="-120"/>
              </a:rPr>
              <a:t>3–7% total cost</a:t>
            </a:r>
            <a:endParaRPr lang="en-US" sz="1600" dirty="0"/>
          </a:p>
        </p:txBody>
      </p:sp>
      <p:sp>
        <p:nvSpPr>
          <p:cNvPr id="7" name="Text 5"/>
          <p:cNvSpPr/>
          <p:nvPr/>
        </p:nvSpPr>
        <p:spPr>
          <a:xfrm>
            <a:off x="1071880" y="4023364"/>
            <a:ext cx="4798111"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6F4EE"/>
                </a:solidFill>
                <a:latin typeface="DM Sans" pitchFamily="34" charset="0"/>
                <a:ea typeface="DM Sans" pitchFamily="34" charset="-122"/>
                <a:cs typeface="DM Sans" pitchFamily="34" charset="-120"/>
              </a:rPr>
              <a:t>1–3 business days</a:t>
            </a:r>
            <a:endParaRPr lang="en-US" sz="1600" dirty="0"/>
          </a:p>
        </p:txBody>
      </p:sp>
      <p:sp>
        <p:nvSpPr>
          <p:cNvPr id="8" name="Text 6"/>
          <p:cNvSpPr/>
          <p:nvPr/>
        </p:nvSpPr>
        <p:spPr>
          <a:xfrm>
            <a:off x="1071880" y="4376421"/>
            <a:ext cx="4798111"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6F4EE"/>
                </a:solidFill>
                <a:latin typeface="DM Sans" pitchFamily="34" charset="0"/>
                <a:ea typeface="DM Sans" pitchFamily="34" charset="-122"/>
                <a:cs typeface="DM Sans" pitchFamily="34" charset="-120"/>
              </a:rPr>
              <a:t>Uncontrolled cash</a:t>
            </a:r>
            <a:endParaRPr lang="en-US" sz="1600" dirty="0"/>
          </a:p>
        </p:txBody>
      </p:sp>
      <p:sp>
        <p:nvSpPr>
          <p:cNvPr id="9" name="Shape 7"/>
          <p:cNvSpPr/>
          <p:nvPr/>
        </p:nvSpPr>
        <p:spPr>
          <a:xfrm>
            <a:off x="6198870" y="3054350"/>
            <a:ext cx="5173980" cy="1849120"/>
          </a:xfrm>
          <a:prstGeom prst="roundRect">
            <a:avLst>
              <a:gd name="adj" fmla="val 7898"/>
            </a:avLst>
          </a:prstGeom>
          <a:solidFill>
            <a:srgbClr val="243C80"/>
          </a:solidFill>
          <a:ln w="12700">
            <a:solidFill>
              <a:srgbClr val="F2A04A"/>
            </a:solidFill>
            <a:prstDash val="solid"/>
          </a:ln>
        </p:spPr>
      </p:sp>
      <p:sp>
        <p:nvSpPr>
          <p:cNvPr id="10" name="Text 8"/>
          <p:cNvSpPr/>
          <p:nvPr/>
        </p:nvSpPr>
        <p:spPr>
          <a:xfrm>
            <a:off x="6456680" y="3312164"/>
            <a:ext cx="479811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A04A"/>
                </a:solidFill>
                <a:latin typeface="DM Sans" pitchFamily="34" charset="0"/>
                <a:ea typeface="DM Sans" pitchFamily="34" charset="-122"/>
                <a:cs typeface="DM Sans" pitchFamily="34" charset="-120"/>
              </a:rPr>
              <a:t>PurposePay</a:t>
            </a:r>
            <a:endParaRPr lang="en-US" sz="1800" dirty="0"/>
          </a:p>
        </p:txBody>
      </p:sp>
      <p:sp>
        <p:nvSpPr>
          <p:cNvPr id="11" name="Text 9"/>
          <p:cNvSpPr/>
          <p:nvPr/>
        </p:nvSpPr>
        <p:spPr>
          <a:xfrm>
            <a:off x="6456680" y="3675379"/>
            <a:ext cx="4798111"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6F4EE"/>
                </a:solidFill>
                <a:latin typeface="DM Sans" pitchFamily="34" charset="0"/>
                <a:ea typeface="DM Sans" pitchFamily="34" charset="-122"/>
                <a:cs typeface="DM Sans" pitchFamily="34" charset="-120"/>
              </a:rPr>
              <a:t>Near-zero intermediary fees</a:t>
            </a:r>
            <a:endParaRPr lang="en-US" sz="1600" dirty="0"/>
          </a:p>
        </p:txBody>
      </p:sp>
      <p:sp>
        <p:nvSpPr>
          <p:cNvPr id="12" name="Text 10"/>
          <p:cNvSpPr/>
          <p:nvPr/>
        </p:nvSpPr>
        <p:spPr>
          <a:xfrm>
            <a:off x="6456680" y="4028442"/>
            <a:ext cx="4798111"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6F4EE"/>
                </a:solidFill>
                <a:latin typeface="DM Sans" pitchFamily="34" charset="0"/>
                <a:ea typeface="DM Sans" pitchFamily="34" charset="-122"/>
                <a:cs typeface="DM Sans" pitchFamily="34" charset="-120"/>
              </a:rPr>
              <a:t>Under 3 seconds (target)</a:t>
            </a:r>
            <a:endParaRPr lang="en-US" sz="1600" dirty="0"/>
          </a:p>
        </p:txBody>
      </p:sp>
      <p:sp>
        <p:nvSpPr>
          <p:cNvPr id="13" name="Text 11"/>
          <p:cNvSpPr/>
          <p:nvPr/>
        </p:nvSpPr>
        <p:spPr>
          <a:xfrm>
            <a:off x="6456680" y="4381500"/>
            <a:ext cx="4798111"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6F4EE"/>
                </a:solidFill>
                <a:latin typeface="DM Sans" pitchFamily="34" charset="0"/>
                <a:ea typeface="DM Sans" pitchFamily="34" charset="-122"/>
                <a:cs typeface="DM Sans" pitchFamily="34" charset="-120"/>
              </a:rPr>
              <a:t>Every rupee purpose-bound</a:t>
            </a:r>
            <a:endParaRPr lang="en-US" sz="1600" dirty="0"/>
          </a:p>
        </p:txBody>
      </p:sp>
      <p:sp>
        <p:nvSpPr>
          <p:cNvPr id="14" name="Text 12"/>
          <p:cNvSpPr/>
          <p:nvPr/>
        </p:nvSpPr>
        <p:spPr>
          <a:xfrm>
            <a:off x="812800" y="526542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8C4DE"/>
                </a:solidFill>
                <a:latin typeface="DM Sans" pitchFamily="34" charset="0"/>
                <a:ea typeface="DM Sans" pitchFamily="34" charset="-122"/>
                <a:cs typeface="DM Sans" pitchFamily="34" charset="-120"/>
              </a:rPr>
              <a:t>Thank you. Questions and live demo.</a:t>
            </a:r>
            <a:endParaRPr lang="en-US" sz="1600" dirty="0"/>
          </a:p>
        </p:txBody>
      </p:sp>
    </p:spTree>
  </p:cSld>
  <p:clrMapOvr>
    <a:masterClrMapping/>
  </p:clrMapOvr>
</p:sld>
</file>

<file path=ppt/theme/theme1.xml><?xml version="1.0" encoding="utf-8"?>
<a:theme xmlns:a="http://schemas.openxmlformats.org/drawingml/2006/main" name="PurposePay Pitch Deck">
  <a:themeElements>
    <a:clrScheme name="PurposePay Pitch Deck">
      <a:dk1>
        <a:srgbClr val="14213D"/>
      </a:dk1>
      <a:lt1>
        <a:srgbClr val="F6F4EE"/>
      </a:lt1>
      <a:dk2>
        <a:srgbClr val="4D5669"/>
      </a:dk2>
      <a:lt2>
        <a:srgbClr val="DFDFDC"/>
      </a:lt2>
      <a:accent1>
        <a:srgbClr val="1A2B57"/>
      </a:accent1>
      <a:accent2>
        <a:srgbClr val="F2A04A"/>
      </a:accent2>
      <a:accent3>
        <a:srgbClr val="243C80"/>
      </a:accent3>
      <a:accent4>
        <a:srgbClr val="17785A"/>
      </a:accent4>
      <a:accent5>
        <a:srgbClr val="B3392F"/>
      </a:accent5>
      <a:accent6>
        <a:srgbClr val="7FD8B4"/>
      </a:accent6>
      <a:hlink>
        <a:srgbClr val="0563C1"/>
      </a:hlink>
      <a:folHlink>
        <a:srgbClr val="954F72"/>
      </a:folHlink>
    </a:clrScheme>
    <a:fontScheme name="PurposePay Pitch Deck">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PurposePay Pitch Deck</dc:title>
  <dc:subject/>
  <dc:creator/>
  <cp:lastModifiedBy/>
  <cp:revision>1</cp:revision>
  <dcterms:created xsi:type="dcterms:W3CDTF">2026-10-11T08:58:43Z</dcterms:created>
  <dcterms:modified xsi:type="dcterms:W3CDTF">2026-10-11T08:58:43Z</dcterms:modified>
</cp:coreProperties>
</file>